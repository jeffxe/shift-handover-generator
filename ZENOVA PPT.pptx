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640080"/>
            <a:ext cx="1005840" cy="100584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1"/>
          <p:cNvSpPr txBox="1"/>
          <p:nvPr/>
        </p:nvSpPr>
        <p:spPr>
          <a:xfrm>
            <a:off x="502919" y="1915160"/>
            <a:ext cx="8138160" cy="65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AI-Powered Shift Continuity Platform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960119" y="2896696"/>
            <a:ext cx="7223760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>
                <a:solidFill>
                  <a:srgbClr val="0EA5C8"/>
                </a:solidFill>
              </a:defRPr>
            </a:lvl1pPr>
          </a:lstStyle>
          <a:p>
            <a:pPr/>
            <a:r>
              <a:t>Automating Shift Handovers Using Multi-Agent AI</a:t>
            </a:r>
          </a:p>
        </p:txBody>
      </p:sp>
      <p:sp>
        <p:nvSpPr>
          <p:cNvPr id="24" name="Shape 3"/>
          <p:cNvSpPr/>
          <p:nvPr/>
        </p:nvSpPr>
        <p:spPr>
          <a:xfrm>
            <a:off x="3200400" y="3383279"/>
            <a:ext cx="2743200" cy="36578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Text 4"/>
          <p:cNvSpPr txBox="1"/>
          <p:nvPr/>
        </p:nvSpPr>
        <p:spPr>
          <a:xfrm>
            <a:off x="960119" y="3575883"/>
            <a:ext cx="7223760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2DC8E8"/>
                </a:solidFill>
              </a:defRPr>
            </a:lvl1pPr>
          </a:lstStyle>
          <a:p>
            <a:pPr/>
            <a:r>
              <a:t>Team Zenova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1874519" y="4056819"/>
            <a:ext cx="5394962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Monicka R  •  AIML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Veeramani (Vignesh)  •  AIML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Jeffrey Nathaniel S  •  AIDS</a:t>
            </a:r>
          </a:p>
        </p:txBody>
      </p:sp>
      <p:sp>
        <p:nvSpPr>
          <p:cNvPr id="27" name="Shape 6"/>
          <p:cNvSpPr/>
          <p:nvPr/>
        </p:nvSpPr>
        <p:spPr>
          <a:xfrm>
            <a:off x="0" y="5093208"/>
            <a:ext cx="9144000" cy="5486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Did We Build This?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Why are shift handovers still manual in 2024?</a:t>
            </a:r>
          </a:p>
        </p:txBody>
      </p:sp>
      <p:sp>
        <p:nvSpPr>
          <p:cNvPr id="32" name="Shape 3"/>
          <p:cNvSpPr/>
          <p:nvPr/>
        </p:nvSpPr>
        <p:spPr>
          <a:xfrm>
            <a:off x="457200" y="1417319"/>
            <a:ext cx="2377440" cy="1828801"/>
          </a:xfrm>
          <a:prstGeom prst="roundRect">
            <a:avLst>
              <a:gd name="adj" fmla="val 5000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319" y="155448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4"/>
          <p:cNvSpPr txBox="1"/>
          <p:nvPr/>
        </p:nvSpPr>
        <p:spPr>
          <a:xfrm>
            <a:off x="502919" y="2147001"/>
            <a:ext cx="2286002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Engineer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502919" y="2550467"/>
            <a:ext cx="228600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Current shift</a:t>
            </a:r>
          </a:p>
        </p:txBody>
      </p:sp>
      <p:sp>
        <p:nvSpPr>
          <p:cNvPr id="36" name="Shape 6"/>
          <p:cNvSpPr/>
          <p:nvPr/>
        </p:nvSpPr>
        <p:spPr>
          <a:xfrm>
            <a:off x="3383279" y="1417319"/>
            <a:ext cx="2377442" cy="1828801"/>
          </a:xfrm>
          <a:prstGeom prst="roundRect">
            <a:avLst>
              <a:gd name="adj" fmla="val 5000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3400" y="1554480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Text 7"/>
          <p:cNvSpPr txBox="1"/>
          <p:nvPr/>
        </p:nvSpPr>
        <p:spPr>
          <a:xfrm>
            <a:off x="3429000" y="2147001"/>
            <a:ext cx="2286000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Manual Notes</a:t>
            </a:r>
          </a:p>
        </p:txBody>
      </p:sp>
      <p:sp>
        <p:nvSpPr>
          <p:cNvPr id="39" name="Text 8"/>
          <p:cNvSpPr txBox="1"/>
          <p:nvPr/>
        </p:nvSpPr>
        <p:spPr>
          <a:xfrm>
            <a:off x="3429000" y="2550467"/>
            <a:ext cx="2286000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Inconsistent format</a:t>
            </a:r>
          </a:p>
        </p:txBody>
      </p:sp>
      <p:sp>
        <p:nvSpPr>
          <p:cNvPr id="40" name="Shape 9"/>
          <p:cNvSpPr/>
          <p:nvPr/>
        </p:nvSpPr>
        <p:spPr>
          <a:xfrm>
            <a:off x="6309359" y="1417319"/>
            <a:ext cx="2377441" cy="1828801"/>
          </a:xfrm>
          <a:prstGeom prst="roundRect">
            <a:avLst>
              <a:gd name="adj" fmla="val 5000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69480" y="155448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 10"/>
          <p:cNvSpPr txBox="1"/>
          <p:nvPr/>
        </p:nvSpPr>
        <p:spPr>
          <a:xfrm>
            <a:off x="6355079" y="2147001"/>
            <a:ext cx="2286002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Next Shift</a:t>
            </a:r>
          </a:p>
        </p:txBody>
      </p:sp>
      <p:sp>
        <p:nvSpPr>
          <p:cNvPr id="43" name="Text 11"/>
          <p:cNvSpPr txBox="1"/>
          <p:nvPr/>
        </p:nvSpPr>
        <p:spPr>
          <a:xfrm>
            <a:off x="6355079" y="2550467"/>
            <a:ext cx="228600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Incomplete handover</a:t>
            </a:r>
          </a:p>
        </p:txBody>
      </p:sp>
      <p:pic>
        <p:nvPicPr>
          <p:cNvPr id="4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926078" y="2057400"/>
            <a:ext cx="365762" cy="365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52159" y="2057400"/>
            <a:ext cx="365762" cy="365760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12"/>
          <p:cNvSpPr txBox="1"/>
          <p:nvPr/>
        </p:nvSpPr>
        <p:spPr>
          <a:xfrm>
            <a:off x="502919" y="3782499"/>
            <a:ext cx="8138160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342900" indent="-342900">
              <a:buSzPct val="100000"/>
              <a:buChar char="•"/>
              <a:defRPr sz="1300">
                <a:solidFill>
                  <a:srgbClr val="EBF4F8"/>
                </a:solidFill>
              </a:defRPr>
            </a:pPr>
            <a:r>
              <a:t>Human errors in documentation</a:t>
            </a:r>
          </a:p>
          <a:p>
            <a:pPr marL="342900" indent="-342900">
              <a:buSzPct val="100000"/>
              <a:buChar char="•"/>
              <a:defRPr sz="1300">
                <a:solidFill>
                  <a:srgbClr val="EBF4F8"/>
                </a:solidFill>
              </a:defRPr>
            </a:pPr>
            <a:r>
              <a:t>Critical info lost between shifts</a:t>
            </a:r>
          </a:p>
          <a:p>
            <a:pPr marL="342900" indent="-342900">
              <a:buSzPct val="100000"/>
              <a:buChar char="•"/>
              <a:defRPr sz="1300">
                <a:solidFill>
                  <a:srgbClr val="EBF4F8"/>
                </a:solidFill>
              </a:defRPr>
            </a:pPr>
            <a:r>
              <a:t>Time-consuming &amp; non-standard format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Can't Humans Handle Everything?</a:t>
            </a:r>
          </a:p>
        </p:txBody>
      </p:sp>
      <p:sp>
        <p:nvSpPr>
          <p:cNvPr id="50" name="Shape 2"/>
          <p:cNvSpPr/>
          <p:nvPr/>
        </p:nvSpPr>
        <p:spPr>
          <a:xfrm>
            <a:off x="457200" y="960119"/>
            <a:ext cx="3200400" cy="3794762"/>
          </a:xfrm>
          <a:prstGeom prst="roundRect">
            <a:avLst>
              <a:gd name="adj" fmla="val 3429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Text 3"/>
          <p:cNvSpPr txBox="1"/>
          <p:nvPr/>
        </p:nvSpPr>
        <p:spPr>
          <a:xfrm>
            <a:off x="502919" y="1187451"/>
            <a:ext cx="3108962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600">
                <a:solidFill>
                  <a:srgbClr val="0EA5C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100+</a:t>
            </a:r>
          </a:p>
        </p:txBody>
      </p:sp>
      <p:sp>
        <p:nvSpPr>
          <p:cNvPr id="52" name="Text 4"/>
          <p:cNvSpPr txBox="1"/>
          <p:nvPr/>
        </p:nvSpPr>
        <p:spPr>
          <a:xfrm>
            <a:off x="502919" y="2122740"/>
            <a:ext cx="31089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Tickets per shift</a:t>
            </a:r>
          </a:p>
        </p:txBody>
      </p:sp>
      <p:pic>
        <p:nvPicPr>
          <p:cNvPr id="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7360" y="2606038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5"/>
          <p:cNvSpPr txBox="1"/>
          <p:nvPr/>
        </p:nvSpPr>
        <p:spPr>
          <a:xfrm>
            <a:off x="502919" y="3373428"/>
            <a:ext cx="310896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F4444"/>
                </a:solidFill>
              </a:defRPr>
            </a:lvl1pPr>
          </a:lstStyle>
          <a:p>
            <a:pPr/>
            <a:r>
              <a:t>Engineer overwhelmed</a:t>
            </a:r>
          </a:p>
        </p:txBody>
      </p:sp>
      <p:sp>
        <p:nvSpPr>
          <p:cNvPr id="55" name="Shape 6"/>
          <p:cNvSpPr/>
          <p:nvPr/>
        </p:nvSpPr>
        <p:spPr>
          <a:xfrm>
            <a:off x="4114800" y="960119"/>
            <a:ext cx="4572000" cy="795530"/>
          </a:xfrm>
          <a:prstGeom prst="roundRect">
            <a:avLst>
              <a:gd name="adj" fmla="val 9195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hape 7"/>
          <p:cNvSpPr/>
          <p:nvPr/>
        </p:nvSpPr>
        <p:spPr>
          <a:xfrm>
            <a:off x="4206240" y="1078991"/>
            <a:ext cx="228603" cy="228603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" name="Text 8"/>
          <p:cNvSpPr txBox="1"/>
          <p:nvPr/>
        </p:nvSpPr>
        <p:spPr>
          <a:xfrm>
            <a:off x="4617720" y="1025460"/>
            <a:ext cx="388620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Hundreds of tickets</a:t>
            </a:r>
          </a:p>
        </p:txBody>
      </p:sp>
      <p:sp>
        <p:nvSpPr>
          <p:cNvPr id="58" name="Text 9"/>
          <p:cNvSpPr txBox="1"/>
          <p:nvPr/>
        </p:nvSpPr>
        <p:spPr>
          <a:xfrm>
            <a:off x="4617720" y="1400478"/>
            <a:ext cx="38862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No human can review all in transition time</a:t>
            </a:r>
          </a:p>
        </p:txBody>
      </p:sp>
      <p:sp>
        <p:nvSpPr>
          <p:cNvPr id="59" name="Shape 10"/>
          <p:cNvSpPr/>
          <p:nvPr/>
        </p:nvSpPr>
        <p:spPr>
          <a:xfrm>
            <a:off x="4114800" y="1892806"/>
            <a:ext cx="4572000" cy="795530"/>
          </a:xfrm>
          <a:prstGeom prst="roundRect">
            <a:avLst>
              <a:gd name="adj" fmla="val 9195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Shape 11"/>
          <p:cNvSpPr/>
          <p:nvPr/>
        </p:nvSpPr>
        <p:spPr>
          <a:xfrm>
            <a:off x="4206240" y="2011678"/>
            <a:ext cx="228603" cy="228603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" name="Text 12"/>
          <p:cNvSpPr txBox="1"/>
          <p:nvPr/>
        </p:nvSpPr>
        <p:spPr>
          <a:xfrm>
            <a:off x="4617720" y="1958148"/>
            <a:ext cx="388620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Multiple chat channels</a:t>
            </a:r>
          </a:p>
        </p:txBody>
      </p:sp>
      <p:sp>
        <p:nvSpPr>
          <p:cNvPr id="62" name="Text 13"/>
          <p:cNvSpPr txBox="1"/>
          <p:nvPr/>
        </p:nvSpPr>
        <p:spPr>
          <a:xfrm>
            <a:off x="4617720" y="2333166"/>
            <a:ext cx="38862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Slack, Teams, email simultaneously</a:t>
            </a:r>
          </a:p>
        </p:txBody>
      </p:sp>
      <p:sp>
        <p:nvSpPr>
          <p:cNvPr id="63" name="Shape 14"/>
          <p:cNvSpPr/>
          <p:nvPr/>
        </p:nvSpPr>
        <p:spPr>
          <a:xfrm>
            <a:off x="4114800" y="2825494"/>
            <a:ext cx="4572000" cy="795530"/>
          </a:xfrm>
          <a:prstGeom prst="roundRect">
            <a:avLst>
              <a:gd name="adj" fmla="val 9195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Shape 15"/>
          <p:cNvSpPr/>
          <p:nvPr/>
        </p:nvSpPr>
        <p:spPr>
          <a:xfrm>
            <a:off x="4206240" y="2944366"/>
            <a:ext cx="228603" cy="228603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Text 16"/>
          <p:cNvSpPr txBox="1"/>
          <p:nvPr/>
        </p:nvSpPr>
        <p:spPr>
          <a:xfrm>
            <a:off x="4617720" y="2890836"/>
            <a:ext cx="388620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Long shift hours</a:t>
            </a:r>
          </a:p>
        </p:txBody>
      </p:sp>
      <p:sp>
        <p:nvSpPr>
          <p:cNvPr id="66" name="Text 17"/>
          <p:cNvSpPr txBox="1"/>
          <p:nvPr/>
        </p:nvSpPr>
        <p:spPr>
          <a:xfrm>
            <a:off x="4617720" y="3265855"/>
            <a:ext cx="388620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Fatigue leads to missed critical items</a:t>
            </a:r>
          </a:p>
        </p:txBody>
      </p:sp>
      <p:sp>
        <p:nvSpPr>
          <p:cNvPr id="67" name="Shape 18"/>
          <p:cNvSpPr/>
          <p:nvPr/>
        </p:nvSpPr>
        <p:spPr>
          <a:xfrm>
            <a:off x="4114800" y="3758184"/>
            <a:ext cx="4572000" cy="795530"/>
          </a:xfrm>
          <a:prstGeom prst="roundRect">
            <a:avLst>
              <a:gd name="adj" fmla="val 9195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" name="Shape 19"/>
          <p:cNvSpPr/>
          <p:nvPr/>
        </p:nvSpPr>
        <p:spPr>
          <a:xfrm>
            <a:off x="4206240" y="3877054"/>
            <a:ext cx="228603" cy="228603"/>
          </a:xfrm>
          <a:prstGeom prst="ellipse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" name="Text 20"/>
          <p:cNvSpPr txBox="1"/>
          <p:nvPr/>
        </p:nvSpPr>
        <p:spPr>
          <a:xfrm>
            <a:off x="4617720" y="3823524"/>
            <a:ext cx="388620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Memory limitations</a:t>
            </a:r>
          </a:p>
        </p:txBody>
      </p:sp>
      <p:sp>
        <p:nvSpPr>
          <p:cNvPr id="70" name="Text 21"/>
          <p:cNvSpPr txBox="1"/>
          <p:nvPr/>
        </p:nvSpPr>
        <p:spPr>
          <a:xfrm>
            <a:off x="4617720" y="4198543"/>
            <a:ext cx="388620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Human recall is fallible under pressure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LLM?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Incidents are written in natural language — LLMs understand natural language</a:t>
            </a:r>
          </a:p>
        </p:txBody>
      </p:sp>
      <p:sp>
        <p:nvSpPr>
          <p:cNvPr id="75" name="Shape 3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32638"/>
          </a:solidFill>
          <a:ln w="12700">
            <a:solidFill>
              <a:srgbClr val="475569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" name="Text 4"/>
          <p:cNvSpPr txBox="1"/>
          <p:nvPr/>
        </p:nvSpPr>
        <p:spPr>
          <a:xfrm>
            <a:off x="502919" y="1516818"/>
            <a:ext cx="35661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94A3B8"/>
                </a:solidFill>
              </a:defRPr>
            </a:lvl1pPr>
          </a:lstStyle>
          <a:p>
            <a:pPr/>
            <a:r>
              <a:t>Raw Incident Text</a:t>
            </a:r>
          </a:p>
        </p:txBody>
      </p:sp>
      <p:sp>
        <p:nvSpPr>
          <p:cNvPr id="77" name="Text 5"/>
          <p:cNvSpPr txBox="1"/>
          <p:nvPr/>
        </p:nvSpPr>
        <p:spPr>
          <a:xfrm>
            <a:off x="640079" y="2375339"/>
            <a:ext cx="3291842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300">
                <a:solidFill>
                  <a:srgbClr val="EBF4F8"/>
                </a:solidFill>
              </a:defRPr>
            </a:lvl1pPr>
          </a:lstStyle>
          <a:p>
            <a:pPr/>
            <a:r>
              <a:t>"Payment gateway outage affecting checkout flow for all customers since 14:32"</a:t>
            </a:r>
          </a:p>
        </p:txBody>
      </p:sp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51959" y="2286000"/>
            <a:ext cx="640082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6"/>
          <p:cNvSpPr/>
          <p:nvPr/>
        </p:nvSpPr>
        <p:spPr>
          <a:xfrm>
            <a:off x="5029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2233"/>
          </a:solidFill>
          <a:ln w="2540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" name="Text 7"/>
          <p:cNvSpPr txBox="1"/>
          <p:nvPr/>
        </p:nvSpPr>
        <p:spPr>
          <a:xfrm>
            <a:off x="5074920" y="1516818"/>
            <a:ext cx="356616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02C39A"/>
                </a:solidFill>
              </a:defRPr>
            </a:lvl1pPr>
          </a:lstStyle>
          <a:p>
            <a:pPr/>
            <a:r>
              <a:t>LLM Understanding</a:t>
            </a:r>
          </a:p>
        </p:txBody>
      </p:sp>
      <p:sp>
        <p:nvSpPr>
          <p:cNvPr id="81" name="Text 8"/>
          <p:cNvSpPr txBox="1"/>
          <p:nvPr/>
        </p:nvSpPr>
        <p:spPr>
          <a:xfrm>
            <a:off x="5212079" y="2282761"/>
            <a:ext cx="3291842" cy="73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Priority: </a:t>
            </a:r>
            <a:r>
              <a:rPr b="0"/>
              <a:t>CRITICAL</a:t>
            </a:r>
          </a:p>
          <a:p>
            <a:pPr>
              <a:defRPr b="1" sz="1400">
                <a:solidFill>
                  <a:srgbClr val="2DC8E8"/>
                </a:solidFill>
              </a:defRPr>
            </a:pPr>
            <a:r>
              <a:t>Type: </a:t>
            </a:r>
            <a:r>
              <a:rPr b="0"/>
              <a:t>Business Incident</a:t>
            </a:r>
          </a:p>
          <a:p>
            <a:pPr>
              <a:defRPr b="1" sz="1400">
                <a:solidFill>
                  <a:srgbClr val="EF4444"/>
                </a:solidFill>
              </a:defRPr>
            </a:pPr>
            <a:r>
              <a:t>Impact: </a:t>
            </a:r>
            <a:r>
              <a:rPr b="0"/>
              <a:t>Revenue Affecting</a:t>
            </a:r>
          </a:p>
        </p:txBody>
      </p:sp>
      <p:sp>
        <p:nvSpPr>
          <p:cNvPr id="82" name="Shape 9"/>
          <p:cNvSpPr/>
          <p:nvPr/>
        </p:nvSpPr>
        <p:spPr>
          <a:xfrm>
            <a:off x="457200" y="3840479"/>
            <a:ext cx="8229600" cy="914402"/>
          </a:xfrm>
          <a:prstGeom prst="roundRect">
            <a:avLst>
              <a:gd name="adj" fmla="val 10000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Text 10"/>
          <p:cNvSpPr txBox="1"/>
          <p:nvPr/>
        </p:nvSpPr>
        <p:spPr>
          <a:xfrm>
            <a:off x="685799" y="4157280"/>
            <a:ext cx="777240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400">
                <a:solidFill>
                  <a:srgbClr val="EBF4F8"/>
                </a:solidFill>
              </a:defRPr>
            </a:lvl1pPr>
          </a:lstStyle>
          <a:p>
            <a:pPr/>
            <a:r>
              <a:t>Traditional code cannot parse intent, severity, and business impact from free-form text — LLMs can.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Llama 3?</a:t>
            </a:r>
          </a:p>
        </p:txBody>
      </p:sp>
      <p:pic>
        <p:nvPicPr>
          <p:cNvPr id="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8"/>
            <a:ext cx="1371600" cy="1371602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 2"/>
          <p:cNvSpPr txBox="1"/>
          <p:nvPr/>
        </p:nvSpPr>
        <p:spPr>
          <a:xfrm>
            <a:off x="2057400" y="1134111"/>
            <a:ext cx="6583679" cy="38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0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Intelligence Layer</a:t>
            </a:r>
          </a:p>
        </p:txBody>
      </p:sp>
      <p:sp>
        <p:nvSpPr>
          <p:cNvPr id="89" name="Text 3"/>
          <p:cNvSpPr txBox="1"/>
          <p:nvPr/>
        </p:nvSpPr>
        <p:spPr>
          <a:xfrm>
            <a:off x="2057400" y="1619821"/>
            <a:ext cx="6583679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Llama 3 by Meta — open-source, powerful, runs locally</a:t>
            </a:r>
          </a:p>
        </p:txBody>
      </p:sp>
      <p:sp>
        <p:nvSpPr>
          <p:cNvPr id="90" name="Shape 4"/>
          <p:cNvSpPr/>
          <p:nvPr/>
        </p:nvSpPr>
        <p:spPr>
          <a:xfrm>
            <a:off x="457200" y="2514600"/>
            <a:ext cx="4023360" cy="1051562"/>
          </a:xfrm>
          <a:prstGeom prst="roundRect">
            <a:avLst>
              <a:gd name="adj" fmla="val 6957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359" y="2633472"/>
            <a:ext cx="411483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5"/>
          <p:cNvSpPr txBox="1"/>
          <p:nvPr/>
        </p:nvSpPr>
        <p:spPr>
          <a:xfrm>
            <a:off x="1188719" y="2623243"/>
            <a:ext cx="31089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2DC8E8"/>
                </a:solidFill>
              </a:defRPr>
            </a:lvl1pPr>
          </a:lstStyle>
          <a:p>
            <a:pPr/>
            <a:r>
              <a:t>Context Awareness</a:t>
            </a:r>
          </a:p>
        </p:txBody>
      </p:sp>
      <p:sp>
        <p:nvSpPr>
          <p:cNvPr id="93" name="Text 6"/>
          <p:cNvSpPr txBox="1"/>
          <p:nvPr/>
        </p:nvSpPr>
        <p:spPr>
          <a:xfrm>
            <a:off x="1188719" y="2986708"/>
            <a:ext cx="3108962" cy="39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Understands long incident logs without losing track of relationships between events</a:t>
            </a:r>
          </a:p>
        </p:txBody>
      </p:sp>
      <p:sp>
        <p:nvSpPr>
          <p:cNvPr id="94" name="Shape 7"/>
          <p:cNvSpPr/>
          <p:nvPr/>
        </p:nvSpPr>
        <p:spPr>
          <a:xfrm>
            <a:off x="4800600" y="2514600"/>
            <a:ext cx="4023360" cy="1051562"/>
          </a:xfrm>
          <a:prstGeom prst="roundRect">
            <a:avLst>
              <a:gd name="adj" fmla="val 6957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37759" y="2633472"/>
            <a:ext cx="411482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8"/>
          <p:cNvSpPr txBox="1"/>
          <p:nvPr/>
        </p:nvSpPr>
        <p:spPr>
          <a:xfrm>
            <a:off x="5532120" y="2623243"/>
            <a:ext cx="31089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2DC8E8"/>
                </a:solidFill>
              </a:defRPr>
            </a:lvl1pPr>
          </a:lstStyle>
          <a:p>
            <a:pPr/>
            <a:r>
              <a:t>Professional Summaries</a:t>
            </a:r>
          </a:p>
        </p:txBody>
      </p:sp>
      <p:sp>
        <p:nvSpPr>
          <p:cNvPr id="97" name="Text 9"/>
          <p:cNvSpPr txBox="1"/>
          <p:nvPr/>
        </p:nvSpPr>
        <p:spPr>
          <a:xfrm>
            <a:off x="5532120" y="2986708"/>
            <a:ext cx="3108962" cy="39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Generates structured, coherent handover reports from unstructured data</a:t>
            </a:r>
          </a:p>
        </p:txBody>
      </p:sp>
      <p:sp>
        <p:nvSpPr>
          <p:cNvPr id="98" name="Shape 10"/>
          <p:cNvSpPr/>
          <p:nvPr/>
        </p:nvSpPr>
        <p:spPr>
          <a:xfrm>
            <a:off x="457200" y="3749040"/>
            <a:ext cx="4023360" cy="1051562"/>
          </a:xfrm>
          <a:prstGeom prst="roundRect">
            <a:avLst>
              <a:gd name="adj" fmla="val 6957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4359" y="3867910"/>
            <a:ext cx="411483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1"/>
          <p:cNvSpPr txBox="1"/>
          <p:nvPr/>
        </p:nvSpPr>
        <p:spPr>
          <a:xfrm>
            <a:off x="1188719" y="3857683"/>
            <a:ext cx="31089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2DC8E8"/>
                </a:solidFill>
              </a:defRPr>
            </a:lvl1pPr>
          </a:lstStyle>
          <a:p>
            <a:pPr/>
            <a:r>
              <a:t>Incident Classification</a:t>
            </a:r>
          </a:p>
        </p:txBody>
      </p:sp>
      <p:sp>
        <p:nvSpPr>
          <p:cNvPr id="101" name="Text 12"/>
          <p:cNvSpPr txBox="1"/>
          <p:nvPr/>
        </p:nvSpPr>
        <p:spPr>
          <a:xfrm>
            <a:off x="1188719" y="4221147"/>
            <a:ext cx="310896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Categorizes severity, type, and business impact from natural language descriptions</a:t>
            </a:r>
          </a:p>
        </p:txBody>
      </p:sp>
      <p:sp>
        <p:nvSpPr>
          <p:cNvPr id="102" name="Shape 13"/>
          <p:cNvSpPr/>
          <p:nvPr/>
        </p:nvSpPr>
        <p:spPr>
          <a:xfrm>
            <a:off x="4800600" y="3749040"/>
            <a:ext cx="4023360" cy="1051562"/>
          </a:xfrm>
          <a:prstGeom prst="roundRect">
            <a:avLst>
              <a:gd name="adj" fmla="val 6957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3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937759" y="3867910"/>
            <a:ext cx="411482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14"/>
          <p:cNvSpPr txBox="1"/>
          <p:nvPr/>
        </p:nvSpPr>
        <p:spPr>
          <a:xfrm>
            <a:off x="5532120" y="3857683"/>
            <a:ext cx="31089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2DC8E8"/>
                </a:solidFill>
              </a:defRPr>
            </a:lvl1pPr>
          </a:lstStyle>
          <a:p>
            <a:pPr/>
            <a:r>
              <a:t>Open Source</a:t>
            </a:r>
          </a:p>
        </p:txBody>
      </p:sp>
      <p:sp>
        <p:nvSpPr>
          <p:cNvPr id="105" name="Text 15"/>
          <p:cNvSpPr txBox="1"/>
          <p:nvPr/>
        </p:nvSpPr>
        <p:spPr>
          <a:xfrm>
            <a:off x="5532120" y="4221147"/>
            <a:ext cx="310896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No licensing fees, full transparency, customizable for specific IT operations terminology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Ollama?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Local AI runtime — power without the cloud</a:t>
            </a:r>
          </a:p>
        </p:txBody>
      </p:sp>
      <p:sp>
        <p:nvSpPr>
          <p:cNvPr id="110" name="Shape 3"/>
          <p:cNvSpPr/>
          <p:nvPr/>
        </p:nvSpPr>
        <p:spPr>
          <a:xfrm>
            <a:off x="457200" y="1371600"/>
            <a:ext cx="3474721" cy="3383280"/>
          </a:xfrm>
          <a:prstGeom prst="roundRect">
            <a:avLst>
              <a:gd name="adj" fmla="val 3243"/>
            </a:avLst>
          </a:prstGeom>
          <a:solidFill>
            <a:srgbClr val="0F2233"/>
          </a:solidFill>
          <a:ln w="25400">
            <a:solidFill>
              <a:srgbClr val="EF4444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1638" y="1554480"/>
            <a:ext cx="73152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 4"/>
          <p:cNvSpPr txBox="1"/>
          <p:nvPr/>
        </p:nvSpPr>
        <p:spPr>
          <a:xfrm>
            <a:off x="502918" y="2318584"/>
            <a:ext cx="3383283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EF4444"/>
                </a:solidFill>
              </a:defRPr>
            </a:lvl1pPr>
          </a:lstStyle>
          <a:p>
            <a:pPr/>
            <a:r>
              <a:t>Cloud AI</a:t>
            </a:r>
          </a:p>
        </p:txBody>
      </p:sp>
      <p:sp>
        <p:nvSpPr>
          <p:cNvPr id="113" name="Text 5"/>
          <p:cNvSpPr txBox="1"/>
          <p:nvPr/>
        </p:nvSpPr>
        <p:spPr>
          <a:xfrm>
            <a:off x="685800" y="2798578"/>
            <a:ext cx="3017522" cy="25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✗  Data leaves your network</a:t>
            </a:r>
          </a:p>
        </p:txBody>
      </p:sp>
      <p:sp>
        <p:nvSpPr>
          <p:cNvPr id="114" name="Text 6"/>
          <p:cNvSpPr txBox="1"/>
          <p:nvPr/>
        </p:nvSpPr>
        <p:spPr>
          <a:xfrm>
            <a:off x="685800" y="3228347"/>
            <a:ext cx="3017522" cy="2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✗  Per-call API costs</a:t>
            </a:r>
          </a:p>
        </p:txBody>
      </p:sp>
      <p:sp>
        <p:nvSpPr>
          <p:cNvPr id="115" name="Text 7"/>
          <p:cNvSpPr txBox="1"/>
          <p:nvPr/>
        </p:nvSpPr>
        <p:spPr>
          <a:xfrm>
            <a:off x="685800" y="3658115"/>
            <a:ext cx="3017522" cy="2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✗  Latency over internet</a:t>
            </a:r>
          </a:p>
        </p:txBody>
      </p:sp>
      <p:sp>
        <p:nvSpPr>
          <p:cNvPr id="116" name="Text 8"/>
          <p:cNvSpPr txBox="1"/>
          <p:nvPr/>
        </p:nvSpPr>
        <p:spPr>
          <a:xfrm>
            <a:off x="685800" y="4087883"/>
            <a:ext cx="3017522" cy="2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✗  Requires connectivity</a:t>
            </a:r>
          </a:p>
        </p:txBody>
      </p:sp>
      <p:sp>
        <p:nvSpPr>
          <p:cNvPr id="117" name="Shape 9"/>
          <p:cNvSpPr/>
          <p:nvPr/>
        </p:nvSpPr>
        <p:spPr>
          <a:xfrm>
            <a:off x="5212079" y="1371600"/>
            <a:ext cx="3474721" cy="3383280"/>
          </a:xfrm>
          <a:prstGeom prst="roundRect">
            <a:avLst>
              <a:gd name="adj" fmla="val 3243"/>
            </a:avLst>
          </a:prstGeom>
          <a:solidFill>
            <a:srgbClr val="132638"/>
          </a:solidFill>
          <a:ln w="2540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46520" y="1554480"/>
            <a:ext cx="73152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 10"/>
          <p:cNvSpPr txBox="1"/>
          <p:nvPr/>
        </p:nvSpPr>
        <p:spPr>
          <a:xfrm>
            <a:off x="5257800" y="2318584"/>
            <a:ext cx="338328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02C39A"/>
                </a:solidFill>
              </a:defRPr>
            </a:lvl1pPr>
          </a:lstStyle>
          <a:p>
            <a:pPr/>
            <a:r>
              <a:t>Ollama (Local)</a:t>
            </a:r>
          </a:p>
        </p:txBody>
      </p:sp>
      <p:sp>
        <p:nvSpPr>
          <p:cNvPr id="120" name="Text 11"/>
          <p:cNvSpPr txBox="1"/>
          <p:nvPr/>
        </p:nvSpPr>
        <p:spPr>
          <a:xfrm>
            <a:off x="5440679" y="2782134"/>
            <a:ext cx="3017522" cy="28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✓  Data stays on premises</a:t>
            </a:r>
          </a:p>
        </p:txBody>
      </p:sp>
      <p:sp>
        <p:nvSpPr>
          <p:cNvPr id="121" name="Text 12"/>
          <p:cNvSpPr txBox="1"/>
          <p:nvPr/>
        </p:nvSpPr>
        <p:spPr>
          <a:xfrm>
            <a:off x="5440679" y="3211901"/>
            <a:ext cx="3017522" cy="28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✓  Zero API cost</a:t>
            </a:r>
          </a:p>
        </p:txBody>
      </p:sp>
      <p:sp>
        <p:nvSpPr>
          <p:cNvPr id="122" name="Text 13"/>
          <p:cNvSpPr txBox="1"/>
          <p:nvPr/>
        </p:nvSpPr>
        <p:spPr>
          <a:xfrm>
            <a:off x="5440679" y="3641670"/>
            <a:ext cx="3017522" cy="28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✓  Low latency processing</a:t>
            </a:r>
          </a:p>
        </p:txBody>
      </p:sp>
      <p:sp>
        <p:nvSpPr>
          <p:cNvPr id="123" name="Text 14"/>
          <p:cNvSpPr txBox="1"/>
          <p:nvPr/>
        </p:nvSpPr>
        <p:spPr>
          <a:xfrm>
            <a:off x="5440679" y="4071438"/>
            <a:ext cx="3017522" cy="28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✓  Works fully offline</a:t>
            </a:r>
          </a:p>
        </p:txBody>
      </p:sp>
      <p:sp>
        <p:nvSpPr>
          <p:cNvPr id="124" name="Text 15"/>
          <p:cNvSpPr txBox="1"/>
          <p:nvPr/>
        </p:nvSpPr>
        <p:spPr>
          <a:xfrm>
            <a:off x="4023359" y="2852420"/>
            <a:ext cx="1097282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>
                <a:solidFill>
                  <a:srgbClr val="0EA5C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28" name="Shape 2"/>
          <p:cNvSpPr/>
          <p:nvPr/>
        </p:nvSpPr>
        <p:spPr>
          <a:xfrm>
            <a:off x="731519" y="868680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254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Text 3"/>
          <p:cNvSpPr txBox="1"/>
          <p:nvPr/>
        </p:nvSpPr>
        <p:spPr>
          <a:xfrm>
            <a:off x="777238" y="936551"/>
            <a:ext cx="320040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User Input</a:t>
            </a:r>
          </a:p>
        </p:txBody>
      </p:sp>
      <p:sp>
        <p:nvSpPr>
          <p:cNvPr id="130" name="Text 4"/>
          <p:cNvSpPr txBox="1"/>
          <p:nvPr/>
        </p:nvSpPr>
        <p:spPr>
          <a:xfrm>
            <a:off x="1417319" y="1213026"/>
            <a:ext cx="192024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31" name="Shape 5"/>
          <p:cNvSpPr/>
          <p:nvPr/>
        </p:nvSpPr>
        <p:spPr>
          <a:xfrm>
            <a:off x="731519" y="1344166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2DC8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Text 6"/>
          <p:cNvSpPr txBox="1"/>
          <p:nvPr/>
        </p:nvSpPr>
        <p:spPr>
          <a:xfrm>
            <a:off x="777238" y="1412039"/>
            <a:ext cx="320040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Streamlit Dashboard</a:t>
            </a:r>
          </a:p>
        </p:txBody>
      </p:sp>
      <p:sp>
        <p:nvSpPr>
          <p:cNvPr id="133" name="Text 7"/>
          <p:cNvSpPr txBox="1"/>
          <p:nvPr/>
        </p:nvSpPr>
        <p:spPr>
          <a:xfrm>
            <a:off x="1417319" y="1688514"/>
            <a:ext cx="192024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34" name="Shape 8"/>
          <p:cNvSpPr/>
          <p:nvPr/>
        </p:nvSpPr>
        <p:spPr>
          <a:xfrm>
            <a:off x="731519" y="1819655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Text 9"/>
          <p:cNvSpPr txBox="1"/>
          <p:nvPr/>
        </p:nvSpPr>
        <p:spPr>
          <a:xfrm>
            <a:off x="777238" y="1887528"/>
            <a:ext cx="320040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Data Collection Agent</a:t>
            </a:r>
          </a:p>
        </p:txBody>
      </p:sp>
      <p:sp>
        <p:nvSpPr>
          <p:cNvPr id="136" name="Text 10"/>
          <p:cNvSpPr txBox="1"/>
          <p:nvPr/>
        </p:nvSpPr>
        <p:spPr>
          <a:xfrm>
            <a:off x="1417319" y="2164002"/>
            <a:ext cx="192024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37" name="Shape 11"/>
          <p:cNvSpPr/>
          <p:nvPr/>
        </p:nvSpPr>
        <p:spPr>
          <a:xfrm>
            <a:off x="731519" y="2295144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 12"/>
          <p:cNvSpPr txBox="1"/>
          <p:nvPr/>
        </p:nvSpPr>
        <p:spPr>
          <a:xfrm>
            <a:off x="777238" y="2363016"/>
            <a:ext cx="320040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Deduplication Agent</a:t>
            </a:r>
          </a:p>
        </p:txBody>
      </p:sp>
      <p:sp>
        <p:nvSpPr>
          <p:cNvPr id="139" name="Text 13"/>
          <p:cNvSpPr txBox="1"/>
          <p:nvPr/>
        </p:nvSpPr>
        <p:spPr>
          <a:xfrm>
            <a:off x="1417319" y="2639491"/>
            <a:ext cx="1920240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0" name="Shape 14"/>
          <p:cNvSpPr/>
          <p:nvPr/>
        </p:nvSpPr>
        <p:spPr>
          <a:xfrm>
            <a:off x="731519" y="2770632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" name="Text 15"/>
          <p:cNvSpPr txBox="1"/>
          <p:nvPr/>
        </p:nvSpPr>
        <p:spPr>
          <a:xfrm>
            <a:off x="777238" y="2838503"/>
            <a:ext cx="320040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Priority Agent</a:t>
            </a:r>
          </a:p>
        </p:txBody>
      </p:sp>
      <p:sp>
        <p:nvSpPr>
          <p:cNvPr id="142" name="Text 16"/>
          <p:cNvSpPr txBox="1"/>
          <p:nvPr/>
        </p:nvSpPr>
        <p:spPr>
          <a:xfrm>
            <a:off x="1417319" y="3114977"/>
            <a:ext cx="192024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3" name="Shape 17"/>
          <p:cNvSpPr/>
          <p:nvPr/>
        </p:nvSpPr>
        <p:spPr>
          <a:xfrm>
            <a:off x="731519" y="3246120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Text 18"/>
          <p:cNvSpPr txBox="1"/>
          <p:nvPr/>
        </p:nvSpPr>
        <p:spPr>
          <a:xfrm>
            <a:off x="777238" y="3313992"/>
            <a:ext cx="320040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Risk Agent</a:t>
            </a:r>
          </a:p>
        </p:txBody>
      </p:sp>
      <p:sp>
        <p:nvSpPr>
          <p:cNvPr id="145" name="Text 19"/>
          <p:cNvSpPr txBox="1"/>
          <p:nvPr/>
        </p:nvSpPr>
        <p:spPr>
          <a:xfrm>
            <a:off x="1417319" y="3590467"/>
            <a:ext cx="1920240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6" name="Shape 20"/>
          <p:cNvSpPr/>
          <p:nvPr/>
        </p:nvSpPr>
        <p:spPr>
          <a:xfrm>
            <a:off x="731519" y="3721608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2DC8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Text 21"/>
          <p:cNvSpPr txBox="1"/>
          <p:nvPr/>
        </p:nvSpPr>
        <p:spPr>
          <a:xfrm>
            <a:off x="777238" y="3789480"/>
            <a:ext cx="320040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Health Score Agent</a:t>
            </a:r>
          </a:p>
        </p:txBody>
      </p:sp>
      <p:sp>
        <p:nvSpPr>
          <p:cNvPr id="148" name="Text 22"/>
          <p:cNvSpPr txBox="1"/>
          <p:nvPr/>
        </p:nvSpPr>
        <p:spPr>
          <a:xfrm>
            <a:off x="1417319" y="4065955"/>
            <a:ext cx="1920240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49" name="Shape 23"/>
          <p:cNvSpPr/>
          <p:nvPr/>
        </p:nvSpPr>
        <p:spPr>
          <a:xfrm>
            <a:off x="731519" y="4197096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Text 24"/>
          <p:cNvSpPr txBox="1"/>
          <p:nvPr/>
        </p:nvSpPr>
        <p:spPr>
          <a:xfrm>
            <a:off x="777238" y="4264968"/>
            <a:ext cx="320040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Report Agent</a:t>
            </a:r>
          </a:p>
        </p:txBody>
      </p:sp>
      <p:sp>
        <p:nvSpPr>
          <p:cNvPr id="151" name="Text 25"/>
          <p:cNvSpPr txBox="1"/>
          <p:nvPr/>
        </p:nvSpPr>
        <p:spPr>
          <a:xfrm>
            <a:off x="1417319" y="4541443"/>
            <a:ext cx="1920240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2" name="Shape 26"/>
          <p:cNvSpPr/>
          <p:nvPr/>
        </p:nvSpPr>
        <p:spPr>
          <a:xfrm>
            <a:off x="731519" y="4672584"/>
            <a:ext cx="3291843" cy="384050"/>
          </a:xfrm>
          <a:prstGeom prst="roundRect">
            <a:avLst>
              <a:gd name="adj" fmla="val 14286"/>
            </a:avLst>
          </a:prstGeom>
          <a:solidFill>
            <a:srgbClr val="132638"/>
          </a:solidFill>
          <a:ln w="254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Text 27"/>
          <p:cNvSpPr txBox="1"/>
          <p:nvPr/>
        </p:nvSpPr>
        <p:spPr>
          <a:xfrm>
            <a:off x="777238" y="4740455"/>
            <a:ext cx="320040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Final Report</a:t>
            </a:r>
          </a:p>
        </p:txBody>
      </p:sp>
      <p:sp>
        <p:nvSpPr>
          <p:cNvPr id="154" name="Shape 28"/>
          <p:cNvSpPr/>
          <p:nvPr/>
        </p:nvSpPr>
        <p:spPr>
          <a:xfrm>
            <a:off x="4846320" y="86868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 29"/>
          <p:cNvSpPr txBox="1"/>
          <p:nvPr/>
        </p:nvSpPr>
        <p:spPr>
          <a:xfrm>
            <a:off x="4892040" y="1025460"/>
            <a:ext cx="374904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EA5C8"/>
                </a:solidFill>
              </a:defRPr>
            </a:lvl1pPr>
          </a:lstStyle>
          <a:p>
            <a:pPr/>
            <a:r>
              <a:t>Architecture Highlights</a:t>
            </a:r>
          </a:p>
        </p:txBody>
      </p:sp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4920" y="1508760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30"/>
          <p:cNvSpPr txBox="1"/>
          <p:nvPr/>
        </p:nvSpPr>
        <p:spPr>
          <a:xfrm>
            <a:off x="5623559" y="1571683"/>
            <a:ext cx="283464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BF4F8"/>
                </a:solidFill>
              </a:defRPr>
            </a:lvl1pPr>
          </a:lstStyle>
          <a:p>
            <a:pPr/>
            <a:r>
              <a:t>6 Specialized Agents</a:t>
            </a:r>
          </a:p>
        </p:txBody>
      </p:sp>
      <p:pic>
        <p:nvPicPr>
          <p:cNvPr id="15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74920" y="2167127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31"/>
          <p:cNvSpPr txBox="1"/>
          <p:nvPr/>
        </p:nvSpPr>
        <p:spPr>
          <a:xfrm>
            <a:off x="5623559" y="2230050"/>
            <a:ext cx="283464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BF4F8"/>
                </a:solidFill>
              </a:defRPr>
            </a:lvl1pPr>
          </a:lstStyle>
          <a:p>
            <a:pPr/>
            <a:r>
              <a:t>Sequential Pipeline</a:t>
            </a:r>
          </a:p>
        </p:txBody>
      </p:sp>
      <p:pic>
        <p:nvPicPr>
          <p:cNvPr id="16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74920" y="2825494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ext 32"/>
          <p:cNvSpPr txBox="1"/>
          <p:nvPr/>
        </p:nvSpPr>
        <p:spPr>
          <a:xfrm>
            <a:off x="5623559" y="2888419"/>
            <a:ext cx="283464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BF4F8"/>
                </a:solidFill>
              </a:defRPr>
            </a:lvl1pPr>
          </a:lstStyle>
          <a:p>
            <a:pPr/>
            <a:r>
              <a:t>Local AI Processing</a:t>
            </a:r>
          </a:p>
        </p:txBody>
      </p:sp>
      <p:pic>
        <p:nvPicPr>
          <p:cNvPr id="16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74920" y="3483864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33"/>
          <p:cNvSpPr txBox="1"/>
          <p:nvPr/>
        </p:nvSpPr>
        <p:spPr>
          <a:xfrm>
            <a:off x="5623559" y="3546788"/>
            <a:ext cx="283464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BF4F8"/>
                </a:solidFill>
              </a:defRPr>
            </a:lvl1pPr>
          </a:lstStyle>
          <a:p>
            <a:pPr/>
            <a:r>
              <a:t>Streamlit UI</a:t>
            </a:r>
          </a:p>
        </p:txBody>
      </p:sp>
      <p:pic>
        <p:nvPicPr>
          <p:cNvPr id="164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74920" y="4142232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34"/>
          <p:cNvSpPr txBox="1"/>
          <p:nvPr/>
        </p:nvSpPr>
        <p:spPr>
          <a:xfrm>
            <a:off x="5623559" y="4205155"/>
            <a:ext cx="283464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EBF4F8"/>
                </a:solidFill>
              </a:defRPr>
            </a:lvl1pPr>
          </a:lstStyle>
          <a:p>
            <a:pPr/>
            <a:r>
              <a:t>Llama 3 via Ollama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Title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JSON?</a:t>
            </a:r>
          </a:p>
        </p:txBody>
      </p:sp>
      <p:sp>
        <p:nvSpPr>
          <p:cNvPr id="169" name="Sub"/>
          <p:cNvSpPr txBox="1"/>
          <p:nvPr/>
        </p:nvSpPr>
        <p:spPr>
          <a:xfrm>
            <a:off x="502919" y="754601"/>
            <a:ext cx="8138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400">
                <a:solidFill>
                  <a:srgbClr val="0EA5C8"/>
                </a:solidFill>
              </a:defRPr>
            </a:lvl1pPr>
          </a:lstStyle>
          <a:p>
            <a:pPr/>
            <a:r>
              <a:t>The ideal format for AI agent-to-agent communication</a:t>
            </a:r>
          </a:p>
        </p:txBody>
      </p:sp>
      <p:sp>
        <p:nvSpPr>
          <p:cNvPr id="170" name="LeftCard"/>
          <p:cNvSpPr/>
          <p:nvPr/>
        </p:nvSpPr>
        <p:spPr>
          <a:xfrm>
            <a:off x="457200" y="1200000"/>
            <a:ext cx="3700001" cy="3300001"/>
          </a:xfrm>
          <a:prstGeom prst="roundRect">
            <a:avLst>
              <a:gd name="adj" fmla="val 4000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LeftTitle"/>
          <p:cNvSpPr txBox="1"/>
          <p:nvPr/>
        </p:nvSpPr>
        <p:spPr>
          <a:xfrm>
            <a:off x="599999" y="1269601"/>
            <a:ext cx="340000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0EA5C8"/>
                </a:solidFill>
              </a:defRPr>
            </a:lvl1pPr>
          </a:lstStyle>
          <a:p>
            <a:pPr/>
            <a:r>
              <a:t>Why JSON for AI Pipelines</a:t>
            </a:r>
          </a:p>
        </p:txBody>
      </p:sp>
      <p:grpSp>
        <p:nvGrpSpPr>
          <p:cNvPr id="174" name="R1"/>
          <p:cNvGrpSpPr/>
          <p:nvPr/>
        </p:nvGrpSpPr>
        <p:grpSpPr>
          <a:xfrm>
            <a:off x="600000" y="1619999"/>
            <a:ext cx="3400000" cy="360001"/>
            <a:chOff x="0" y="0"/>
            <a:chExt cx="3399999" cy="359999"/>
          </a:xfrm>
        </p:grpSpPr>
        <p:sp>
          <p:nvSpPr>
            <p:cNvPr id="172" name="Rounded Rectangle"/>
            <p:cNvSpPr/>
            <p:nvPr/>
          </p:nvSpPr>
          <p:spPr>
            <a:xfrm>
              <a:off x="0" y="0"/>
              <a:ext cx="3400000" cy="360000"/>
            </a:xfrm>
            <a:prstGeom prst="roundRect">
              <a:avLst>
                <a:gd name="adj" fmla="val 8000"/>
              </a:avLst>
            </a:prstGeom>
            <a:solidFill>
              <a:srgbClr val="0EA5C8">
                <a:alpha val="15000"/>
              </a:srgbClr>
            </a:solidFill>
            <a:ln w="9525" cap="flat">
              <a:solidFill>
                <a:srgbClr val="0EA5C8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173" name="•  Structured data format"/>
            <p:cNvSpPr txBox="1"/>
            <p:nvPr/>
          </p:nvSpPr>
          <p:spPr>
            <a:xfrm>
              <a:off x="58918" y="55848"/>
              <a:ext cx="3327884" cy="248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 sz="1200">
                  <a:solidFill>
                    <a:srgbClr val="0EA5C8"/>
                  </a:solidFill>
                </a:defRPr>
              </a:pPr>
              <a:r>
                <a:t>•  </a:t>
              </a:r>
              <a:r>
                <a:rPr b="0">
                  <a:solidFill>
                    <a:srgbClr val="FFFFFF"/>
                  </a:solidFill>
                </a:rPr>
                <a:t>Structured data format</a:t>
              </a:r>
            </a:p>
          </p:txBody>
        </p:sp>
      </p:grpSp>
      <p:grpSp>
        <p:nvGrpSpPr>
          <p:cNvPr id="177" name="R2"/>
          <p:cNvGrpSpPr/>
          <p:nvPr/>
        </p:nvGrpSpPr>
        <p:grpSpPr>
          <a:xfrm>
            <a:off x="600000" y="2040000"/>
            <a:ext cx="3400000" cy="360001"/>
            <a:chOff x="0" y="0"/>
            <a:chExt cx="3399999" cy="359999"/>
          </a:xfrm>
        </p:grpSpPr>
        <p:sp>
          <p:nvSpPr>
            <p:cNvPr id="175" name="Rounded Rectangle"/>
            <p:cNvSpPr/>
            <p:nvPr/>
          </p:nvSpPr>
          <p:spPr>
            <a:xfrm>
              <a:off x="0" y="0"/>
              <a:ext cx="3400000" cy="360000"/>
            </a:xfrm>
            <a:prstGeom prst="roundRect">
              <a:avLst>
                <a:gd name="adj" fmla="val 8000"/>
              </a:avLst>
            </a:prstGeom>
            <a:solidFill>
              <a:srgbClr val="02C39A">
                <a:alpha val="15000"/>
              </a:srgbClr>
            </a:solidFill>
            <a:ln w="9525" cap="flat">
              <a:solidFill>
                <a:srgbClr val="02C39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176" name="•  Easy AI processing"/>
            <p:cNvSpPr txBox="1"/>
            <p:nvPr/>
          </p:nvSpPr>
          <p:spPr>
            <a:xfrm>
              <a:off x="58918" y="55848"/>
              <a:ext cx="3327884" cy="248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 sz="1200">
                  <a:solidFill>
                    <a:srgbClr val="02C39A"/>
                  </a:solidFill>
                </a:defRPr>
              </a:pPr>
              <a:r>
                <a:t>•  </a:t>
              </a:r>
              <a:r>
                <a:rPr b="0">
                  <a:solidFill>
                    <a:srgbClr val="FFFFFF"/>
                  </a:solidFill>
                </a:rPr>
                <a:t>Easy AI processing</a:t>
              </a:r>
            </a:p>
          </p:txBody>
        </p:sp>
      </p:grpSp>
      <p:grpSp>
        <p:nvGrpSpPr>
          <p:cNvPr id="180" name="R3"/>
          <p:cNvGrpSpPr/>
          <p:nvPr/>
        </p:nvGrpSpPr>
        <p:grpSpPr>
          <a:xfrm>
            <a:off x="600000" y="2460000"/>
            <a:ext cx="3400000" cy="360001"/>
            <a:chOff x="0" y="0"/>
            <a:chExt cx="3399999" cy="359999"/>
          </a:xfrm>
        </p:grpSpPr>
        <p:sp>
          <p:nvSpPr>
            <p:cNvPr id="178" name="Rounded Rectangle"/>
            <p:cNvSpPr/>
            <p:nvPr/>
          </p:nvSpPr>
          <p:spPr>
            <a:xfrm>
              <a:off x="0" y="0"/>
              <a:ext cx="3400000" cy="360000"/>
            </a:xfrm>
            <a:prstGeom prst="roundRect">
              <a:avLst>
                <a:gd name="adj" fmla="val 8000"/>
              </a:avLst>
            </a:prstGeom>
            <a:solidFill>
              <a:srgbClr val="F59E0B">
                <a:alpha val="15000"/>
              </a:srgbClr>
            </a:solidFill>
            <a:ln w="9525" cap="flat">
              <a:solidFill>
                <a:srgbClr val="F59E0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179" name="•  Lightweight and fast"/>
            <p:cNvSpPr txBox="1"/>
            <p:nvPr/>
          </p:nvSpPr>
          <p:spPr>
            <a:xfrm>
              <a:off x="58918" y="55848"/>
              <a:ext cx="3327884" cy="248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 sz="1200">
                  <a:solidFill>
                    <a:srgbClr val="F59E0B"/>
                  </a:solidFill>
                </a:defRPr>
              </a:pPr>
              <a:r>
                <a:t>•  </a:t>
              </a:r>
              <a:r>
                <a:rPr b="0">
                  <a:solidFill>
                    <a:srgbClr val="FFFFFF"/>
                  </a:solidFill>
                </a:rPr>
                <a:t>Lightweight and fast</a:t>
              </a:r>
            </a:p>
          </p:txBody>
        </p:sp>
      </p:grpSp>
      <p:grpSp>
        <p:nvGrpSpPr>
          <p:cNvPr id="183" name="R4"/>
          <p:cNvGrpSpPr/>
          <p:nvPr/>
        </p:nvGrpSpPr>
        <p:grpSpPr>
          <a:xfrm>
            <a:off x="600000" y="2879999"/>
            <a:ext cx="3400000" cy="360001"/>
            <a:chOff x="0" y="0"/>
            <a:chExt cx="3399999" cy="359999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3400000" cy="360000"/>
            </a:xfrm>
            <a:prstGeom prst="roundRect">
              <a:avLst>
                <a:gd name="adj" fmla="val 8000"/>
              </a:avLst>
            </a:prstGeom>
            <a:solidFill>
              <a:srgbClr val="2DC8E8">
                <a:alpha val="15000"/>
              </a:srgbClr>
            </a:solidFill>
            <a:ln w="9525" cap="flat">
              <a:solidFill>
                <a:srgbClr val="2DC8E8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182" name="•  Human-readable format"/>
            <p:cNvSpPr txBox="1"/>
            <p:nvPr/>
          </p:nvSpPr>
          <p:spPr>
            <a:xfrm>
              <a:off x="58918" y="55848"/>
              <a:ext cx="3327884" cy="248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 sz="1200">
                  <a:solidFill>
                    <a:srgbClr val="2DC8E8"/>
                  </a:solidFill>
                </a:defRPr>
              </a:pPr>
              <a:r>
                <a:t>•  </a:t>
              </a:r>
              <a:r>
                <a:rPr b="0">
                  <a:solidFill>
                    <a:srgbClr val="FFFFFF"/>
                  </a:solidFill>
                </a:rPr>
                <a:t>Human-readable format</a:t>
              </a:r>
            </a:p>
          </p:txBody>
        </p:sp>
      </p:grpSp>
      <p:grpSp>
        <p:nvGrpSpPr>
          <p:cNvPr id="186" name="R5"/>
          <p:cNvGrpSpPr/>
          <p:nvPr/>
        </p:nvGrpSpPr>
        <p:grpSpPr>
          <a:xfrm>
            <a:off x="600000" y="3300000"/>
            <a:ext cx="3400000" cy="360001"/>
            <a:chOff x="0" y="0"/>
            <a:chExt cx="3399999" cy="359999"/>
          </a:xfrm>
        </p:grpSpPr>
        <p:sp>
          <p:nvSpPr>
            <p:cNvPr id="184" name="Rounded Rectangle"/>
            <p:cNvSpPr/>
            <p:nvPr/>
          </p:nvSpPr>
          <p:spPr>
            <a:xfrm>
              <a:off x="0" y="0"/>
              <a:ext cx="3400000" cy="360000"/>
            </a:xfrm>
            <a:prstGeom prst="roundRect">
              <a:avLst>
                <a:gd name="adj" fmla="val 8000"/>
              </a:avLst>
            </a:prstGeom>
            <a:solidFill>
              <a:srgbClr val="02C39A">
                <a:alpha val="15000"/>
              </a:srgbClr>
            </a:solidFill>
            <a:ln w="9525" cap="flat">
              <a:solidFill>
                <a:srgbClr val="02C39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185" name="•  Agent-to-agent communication"/>
            <p:cNvSpPr txBox="1"/>
            <p:nvPr/>
          </p:nvSpPr>
          <p:spPr>
            <a:xfrm>
              <a:off x="58918" y="55848"/>
              <a:ext cx="3327884" cy="248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b="1" sz="1200">
                  <a:solidFill>
                    <a:srgbClr val="02C39A"/>
                  </a:solidFill>
                </a:defRPr>
              </a:pPr>
              <a:r>
                <a:t>•  </a:t>
              </a:r>
              <a:r>
                <a:rPr b="0">
                  <a:solidFill>
                    <a:srgbClr val="FFFFFF"/>
                  </a:solidFill>
                </a:rPr>
                <a:t>Agent-to-agent communication</a:t>
              </a:r>
            </a:p>
          </p:txBody>
        </p:sp>
      </p:grpSp>
      <p:sp>
        <p:nvSpPr>
          <p:cNvPr id="187" name="RightCard"/>
          <p:cNvSpPr/>
          <p:nvPr/>
        </p:nvSpPr>
        <p:spPr>
          <a:xfrm>
            <a:off x="4500000" y="1200000"/>
            <a:ext cx="4230001" cy="3300001"/>
          </a:xfrm>
          <a:prstGeom prst="roundRect">
            <a:avLst>
              <a:gd name="adj" fmla="val 4000"/>
            </a:avLst>
          </a:prstGeom>
          <a:solidFill>
            <a:srgbClr val="0A1520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" name="RightTitle"/>
          <p:cNvSpPr txBox="1"/>
          <p:nvPr/>
        </p:nvSpPr>
        <p:spPr>
          <a:xfrm>
            <a:off x="4699999" y="1259601"/>
            <a:ext cx="380000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02C39A"/>
                </a:solidFill>
              </a:defRPr>
            </a:lvl1pPr>
          </a:lstStyle>
          <a:p>
            <a:pPr/>
            <a:r>
              <a:t>JSON Example</a:t>
            </a:r>
          </a:p>
        </p:txBody>
      </p:sp>
      <p:sp>
        <p:nvSpPr>
          <p:cNvPr id="189" name="Code"/>
          <p:cNvSpPr txBox="1"/>
          <p:nvPr/>
        </p:nvSpPr>
        <p:spPr>
          <a:xfrm>
            <a:off x="4745720" y="1620000"/>
            <a:ext cx="3854280" cy="1158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  <a:endParaRPr sz="1400">
              <a:solidFill>
                <a:srgbClr val="02C39A"/>
              </a:solidFill>
            </a:endParaRPr>
          </a:p>
          <a:p>
            <a:pPr>
              <a:defRPr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"user"</a:t>
            </a:r>
            <a:r>
              <a:rPr>
                <a:solidFill>
                  <a:srgbClr val="FFFFFF"/>
                </a:solidFill>
              </a:rPr>
              <a:t>: </a:t>
            </a:r>
            <a:r>
              <a:rPr>
                <a:solidFill>
                  <a:srgbClr val="02C39A"/>
                </a:solidFill>
              </a:rPr>
              <a:t>"Engineer"</a:t>
            </a:r>
            <a:r>
              <a:rPr>
                <a:solidFill>
                  <a:srgbClr val="FFFFFF"/>
                </a:solidFill>
              </a:rPr>
              <a:t>,</a:t>
            </a:r>
            <a:endParaRPr sz="1400">
              <a:solidFill>
                <a:srgbClr val="02C39A"/>
              </a:solidFill>
            </a:endParaRPr>
          </a:p>
          <a:p>
            <a:pPr>
              <a:defRPr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"message"</a:t>
            </a:r>
            <a:r>
              <a:rPr>
                <a:solidFill>
                  <a:srgbClr val="FFFFFF"/>
                </a:solidFill>
              </a:rPr>
              <a:t>: </a:t>
            </a:r>
            <a:r>
              <a:rPr>
                <a:solidFill>
                  <a:srgbClr val="02C39A"/>
                </a:solidFill>
              </a:rPr>
              <a:t>"Database Down"</a:t>
            </a:r>
            <a:r>
              <a:rPr>
                <a:solidFill>
                  <a:srgbClr val="FFFFFF"/>
                </a:solidFill>
              </a:rPr>
              <a:t>,</a:t>
            </a:r>
            <a:endParaRPr sz="1400">
              <a:solidFill>
                <a:srgbClr val="02C39A"/>
              </a:solidFill>
            </a:endParaRPr>
          </a:p>
          <a:p>
            <a:pPr>
              <a:defRPr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"severity"</a:t>
            </a:r>
            <a:r>
              <a:rPr>
                <a:solidFill>
                  <a:srgbClr val="FFFFFF"/>
                </a:solidFill>
              </a:rPr>
              <a:t>: </a:t>
            </a:r>
            <a:r>
              <a:rPr>
                <a:solidFill>
                  <a:srgbClr val="EF4444"/>
                </a:solidFill>
              </a:rPr>
              <a:t>"CRITICAL"</a:t>
            </a:r>
            <a:r>
              <a:rPr>
                <a:solidFill>
                  <a:srgbClr val="FFFFFF"/>
                </a:solidFill>
              </a:rPr>
              <a:t>,</a:t>
            </a:r>
            <a:endParaRPr sz="1400">
              <a:solidFill>
                <a:srgbClr val="02C39A"/>
              </a:solidFill>
            </a:endParaRPr>
          </a:p>
          <a:p>
            <a:pPr>
              <a:defRPr sz="1200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"timestamp"</a:t>
            </a:r>
            <a:r>
              <a:rPr>
                <a:solidFill>
                  <a:srgbClr val="FFFFFF"/>
                </a:solidFill>
              </a:rPr>
              <a:t>: </a:t>
            </a:r>
            <a:r>
              <a:rPr>
                <a:solidFill>
                  <a:srgbClr val="02C39A"/>
                </a:solidFill>
              </a:rPr>
              <a:t>"14:32:00"</a:t>
            </a:r>
            <a:endParaRPr sz="1400">
              <a:solidFill>
                <a:srgbClr val="02C39A"/>
              </a:solidFill>
            </a:endParaRPr>
          </a:p>
          <a:p>
            <a:pPr>
              <a:def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90" name="Note"/>
          <p:cNvSpPr txBox="1"/>
          <p:nvPr/>
        </p:nvSpPr>
        <p:spPr>
          <a:xfrm>
            <a:off x="4699999" y="3750001"/>
            <a:ext cx="3900001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>
                <a:solidFill>
                  <a:srgbClr val="94A3B8"/>
                </a:solidFill>
              </a:defRPr>
            </a:lvl1pPr>
          </a:lstStyle>
          <a:p>
            <a:pPr/>
            <a:r>
              <a:t>Each agent receives structured JSON input and outputs structured JSON — enabling seamless pipeline chaining.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Multi-Agent Architecture?</a:t>
            </a:r>
          </a:p>
        </p:txBody>
      </p:sp>
      <p:sp>
        <p:nvSpPr>
          <p:cNvPr id="194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Specialization yields accuracy — each agent masters one task</a:t>
            </a:r>
          </a:p>
        </p:txBody>
      </p:sp>
      <p:sp>
        <p:nvSpPr>
          <p:cNvPr id="195" name="Shape 3"/>
          <p:cNvSpPr/>
          <p:nvPr/>
        </p:nvSpPr>
        <p:spPr>
          <a:xfrm>
            <a:off x="457200" y="1417319"/>
            <a:ext cx="260604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3038" y="1536191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4"/>
          <p:cNvSpPr txBox="1"/>
          <p:nvPr/>
        </p:nvSpPr>
        <p:spPr>
          <a:xfrm>
            <a:off x="502919" y="2253288"/>
            <a:ext cx="251460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Data Collection Agent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502919" y="2602914"/>
            <a:ext cx="25146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Gathers tickets, alerts &amp; logs</a:t>
            </a:r>
          </a:p>
        </p:txBody>
      </p:sp>
      <p:sp>
        <p:nvSpPr>
          <p:cNvPr id="199" name="Shape 6"/>
          <p:cNvSpPr/>
          <p:nvPr/>
        </p:nvSpPr>
        <p:spPr>
          <a:xfrm>
            <a:off x="3291840" y="1417319"/>
            <a:ext cx="2606042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0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97679" y="1536191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 7"/>
          <p:cNvSpPr txBox="1"/>
          <p:nvPr/>
        </p:nvSpPr>
        <p:spPr>
          <a:xfrm>
            <a:off x="3337559" y="2253288"/>
            <a:ext cx="251460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Deduplication Agent</a:t>
            </a:r>
          </a:p>
        </p:txBody>
      </p:sp>
      <p:sp>
        <p:nvSpPr>
          <p:cNvPr id="202" name="Text 8"/>
          <p:cNvSpPr txBox="1"/>
          <p:nvPr/>
        </p:nvSpPr>
        <p:spPr>
          <a:xfrm>
            <a:off x="3337559" y="2602914"/>
            <a:ext cx="25146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Removes repeated incidents</a:t>
            </a:r>
          </a:p>
        </p:txBody>
      </p:sp>
      <p:sp>
        <p:nvSpPr>
          <p:cNvPr id="203" name="Shape 9"/>
          <p:cNvSpPr/>
          <p:nvPr/>
        </p:nvSpPr>
        <p:spPr>
          <a:xfrm>
            <a:off x="6126479" y="1417319"/>
            <a:ext cx="2606042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0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32318" y="1536191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 10"/>
          <p:cNvSpPr txBox="1"/>
          <p:nvPr/>
        </p:nvSpPr>
        <p:spPr>
          <a:xfrm>
            <a:off x="6172200" y="2253288"/>
            <a:ext cx="251460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Priority Agent</a:t>
            </a:r>
          </a:p>
        </p:txBody>
      </p:sp>
      <p:sp>
        <p:nvSpPr>
          <p:cNvPr id="206" name="Text 11"/>
          <p:cNvSpPr txBox="1"/>
          <p:nvPr/>
        </p:nvSpPr>
        <p:spPr>
          <a:xfrm>
            <a:off x="6172200" y="2602914"/>
            <a:ext cx="251460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Identifies critical issues</a:t>
            </a:r>
          </a:p>
        </p:txBody>
      </p:sp>
      <p:sp>
        <p:nvSpPr>
          <p:cNvPr id="207" name="Shape 12"/>
          <p:cNvSpPr/>
          <p:nvPr/>
        </p:nvSpPr>
        <p:spPr>
          <a:xfrm>
            <a:off x="457200" y="3154678"/>
            <a:ext cx="260604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EF4444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08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63038" y="3273552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13"/>
          <p:cNvSpPr txBox="1"/>
          <p:nvPr/>
        </p:nvSpPr>
        <p:spPr>
          <a:xfrm>
            <a:off x="502919" y="3990648"/>
            <a:ext cx="251460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Risk Agent</a:t>
            </a:r>
          </a:p>
        </p:txBody>
      </p:sp>
      <p:sp>
        <p:nvSpPr>
          <p:cNvPr id="210" name="Text 14"/>
          <p:cNvSpPr txBox="1"/>
          <p:nvPr/>
        </p:nvSpPr>
        <p:spPr>
          <a:xfrm>
            <a:off x="502919" y="4340273"/>
            <a:ext cx="25146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Predicts SLA risks</a:t>
            </a:r>
          </a:p>
        </p:txBody>
      </p:sp>
      <p:sp>
        <p:nvSpPr>
          <p:cNvPr id="211" name="Shape 15"/>
          <p:cNvSpPr/>
          <p:nvPr/>
        </p:nvSpPr>
        <p:spPr>
          <a:xfrm>
            <a:off x="3291840" y="3154678"/>
            <a:ext cx="2606042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2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97679" y="3273552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 16"/>
          <p:cNvSpPr txBox="1"/>
          <p:nvPr/>
        </p:nvSpPr>
        <p:spPr>
          <a:xfrm>
            <a:off x="3337559" y="3990648"/>
            <a:ext cx="251460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Health Score Agent</a:t>
            </a:r>
          </a:p>
        </p:txBody>
      </p:sp>
      <p:sp>
        <p:nvSpPr>
          <p:cNvPr id="214" name="Text 17"/>
          <p:cNvSpPr txBox="1"/>
          <p:nvPr/>
        </p:nvSpPr>
        <p:spPr>
          <a:xfrm>
            <a:off x="3337559" y="4340273"/>
            <a:ext cx="251460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Calculates shift health</a:t>
            </a:r>
          </a:p>
        </p:txBody>
      </p:sp>
      <p:sp>
        <p:nvSpPr>
          <p:cNvPr id="215" name="Shape 18"/>
          <p:cNvSpPr/>
          <p:nvPr/>
        </p:nvSpPr>
        <p:spPr>
          <a:xfrm>
            <a:off x="6126479" y="3154678"/>
            <a:ext cx="2606042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6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132318" y="3273552"/>
            <a:ext cx="594362" cy="594362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19"/>
          <p:cNvSpPr txBox="1"/>
          <p:nvPr/>
        </p:nvSpPr>
        <p:spPr>
          <a:xfrm>
            <a:off x="6172200" y="3990648"/>
            <a:ext cx="251460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Report Agent</a:t>
            </a:r>
          </a:p>
        </p:txBody>
      </p:sp>
      <p:sp>
        <p:nvSpPr>
          <p:cNvPr id="218" name="Text 20"/>
          <p:cNvSpPr txBox="1"/>
          <p:nvPr/>
        </p:nvSpPr>
        <p:spPr>
          <a:xfrm>
            <a:off x="6172200" y="4340273"/>
            <a:ext cx="2514600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Generates final handover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These Agents?</a:t>
            </a:r>
          </a:p>
        </p:txBody>
      </p:sp>
      <p:sp>
        <p:nvSpPr>
          <p:cNvPr id="222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Each agent has a precise, bounded responsibility</a:t>
            </a:r>
          </a:p>
        </p:txBody>
      </p:sp>
      <p:sp>
        <p:nvSpPr>
          <p:cNvPr id="223" name="Shape 3"/>
          <p:cNvSpPr/>
          <p:nvPr/>
        </p:nvSpPr>
        <p:spPr>
          <a:xfrm>
            <a:off x="457200" y="1371600"/>
            <a:ext cx="8229600" cy="548641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59" y="1463038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4"/>
          <p:cNvSpPr txBox="1"/>
          <p:nvPr/>
        </p:nvSpPr>
        <p:spPr>
          <a:xfrm>
            <a:off x="1143000" y="1429952"/>
            <a:ext cx="26517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Data Collection Agent</a:t>
            </a:r>
          </a:p>
        </p:txBody>
      </p:sp>
      <p:sp>
        <p:nvSpPr>
          <p:cNvPr id="226" name="Text 5"/>
          <p:cNvSpPr txBox="1"/>
          <p:nvPr/>
        </p:nvSpPr>
        <p:spPr>
          <a:xfrm>
            <a:off x="1143000" y="1729663"/>
            <a:ext cx="265176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0EA5C8"/>
                </a:solidFill>
              </a:defRPr>
            </a:lvl1pPr>
          </a:lstStyle>
          <a:p>
            <a:pPr/>
            <a:r>
              <a:t>Collects Data</a:t>
            </a:r>
          </a:p>
        </p:txBody>
      </p:sp>
      <p:sp>
        <p:nvSpPr>
          <p:cNvPr id="227" name="Text 6"/>
          <p:cNvSpPr txBox="1"/>
          <p:nvPr/>
        </p:nvSpPr>
        <p:spPr>
          <a:xfrm>
            <a:off x="4069079" y="1517195"/>
            <a:ext cx="438912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Ingests tickets, alerts, logs from all sources</a:t>
            </a:r>
          </a:p>
        </p:txBody>
      </p:sp>
      <p:sp>
        <p:nvSpPr>
          <p:cNvPr id="228" name="Shape 7"/>
          <p:cNvSpPr/>
          <p:nvPr/>
        </p:nvSpPr>
        <p:spPr>
          <a:xfrm>
            <a:off x="457200" y="1993392"/>
            <a:ext cx="8229600" cy="548642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359" y="2084832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Text 8"/>
          <p:cNvSpPr txBox="1"/>
          <p:nvPr/>
        </p:nvSpPr>
        <p:spPr>
          <a:xfrm>
            <a:off x="1143000" y="2051744"/>
            <a:ext cx="26517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Deduplication Agent</a:t>
            </a:r>
          </a:p>
        </p:txBody>
      </p:sp>
      <p:sp>
        <p:nvSpPr>
          <p:cNvPr id="231" name="Text 9"/>
          <p:cNvSpPr txBox="1"/>
          <p:nvPr/>
        </p:nvSpPr>
        <p:spPr>
          <a:xfrm>
            <a:off x="1143000" y="2351454"/>
            <a:ext cx="26517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02C39A"/>
                </a:solidFill>
              </a:defRPr>
            </a:lvl1pPr>
          </a:lstStyle>
          <a:p>
            <a:pPr/>
            <a:r>
              <a:t>Removes Repeated Incidents</a:t>
            </a:r>
          </a:p>
        </p:txBody>
      </p:sp>
      <p:sp>
        <p:nvSpPr>
          <p:cNvPr id="232" name="Text 10"/>
          <p:cNvSpPr txBox="1"/>
          <p:nvPr/>
        </p:nvSpPr>
        <p:spPr>
          <a:xfrm>
            <a:off x="4069079" y="2138988"/>
            <a:ext cx="438912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Eliminates duplicate events to reduce noise</a:t>
            </a:r>
          </a:p>
        </p:txBody>
      </p:sp>
      <p:sp>
        <p:nvSpPr>
          <p:cNvPr id="233" name="Shape 11"/>
          <p:cNvSpPr/>
          <p:nvPr/>
        </p:nvSpPr>
        <p:spPr>
          <a:xfrm>
            <a:off x="457200" y="2615183"/>
            <a:ext cx="8229600" cy="548641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3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4359" y="2706622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 12"/>
          <p:cNvSpPr txBox="1"/>
          <p:nvPr/>
        </p:nvSpPr>
        <p:spPr>
          <a:xfrm>
            <a:off x="1143000" y="2673536"/>
            <a:ext cx="26517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Priority Agent</a:t>
            </a:r>
          </a:p>
        </p:txBody>
      </p:sp>
      <p:sp>
        <p:nvSpPr>
          <p:cNvPr id="236" name="Text 13"/>
          <p:cNvSpPr txBox="1"/>
          <p:nvPr/>
        </p:nvSpPr>
        <p:spPr>
          <a:xfrm>
            <a:off x="1143000" y="2973247"/>
            <a:ext cx="265176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F59E0B"/>
                </a:solidFill>
              </a:defRPr>
            </a:lvl1pPr>
          </a:lstStyle>
          <a:p>
            <a:pPr/>
            <a:r>
              <a:t>Identifies Critical Issues</a:t>
            </a:r>
          </a:p>
        </p:txBody>
      </p:sp>
      <p:sp>
        <p:nvSpPr>
          <p:cNvPr id="237" name="Text 14"/>
          <p:cNvSpPr txBox="1"/>
          <p:nvPr/>
        </p:nvSpPr>
        <p:spPr>
          <a:xfrm>
            <a:off x="4069079" y="2760779"/>
            <a:ext cx="438912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Ranks incidents by urgency and business impact</a:t>
            </a:r>
          </a:p>
        </p:txBody>
      </p:sp>
      <p:sp>
        <p:nvSpPr>
          <p:cNvPr id="238" name="Shape 15"/>
          <p:cNvSpPr/>
          <p:nvPr/>
        </p:nvSpPr>
        <p:spPr>
          <a:xfrm>
            <a:off x="457200" y="3236976"/>
            <a:ext cx="8229600" cy="548642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EF4444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3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4359" y="3328415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ext 16"/>
          <p:cNvSpPr txBox="1"/>
          <p:nvPr/>
        </p:nvSpPr>
        <p:spPr>
          <a:xfrm>
            <a:off x="1143000" y="3295328"/>
            <a:ext cx="26517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Risk Agent</a:t>
            </a:r>
          </a:p>
        </p:txBody>
      </p:sp>
      <p:sp>
        <p:nvSpPr>
          <p:cNvPr id="241" name="Text 17"/>
          <p:cNvSpPr txBox="1"/>
          <p:nvPr/>
        </p:nvSpPr>
        <p:spPr>
          <a:xfrm>
            <a:off x="1143000" y="3595038"/>
            <a:ext cx="26517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EF4444"/>
                </a:solidFill>
              </a:defRPr>
            </a:lvl1pPr>
          </a:lstStyle>
          <a:p>
            <a:pPr/>
            <a:r>
              <a:t>Predicts SLA Risks</a:t>
            </a:r>
          </a:p>
        </p:txBody>
      </p:sp>
      <p:sp>
        <p:nvSpPr>
          <p:cNvPr id="242" name="Text 18"/>
          <p:cNvSpPr txBox="1"/>
          <p:nvPr/>
        </p:nvSpPr>
        <p:spPr>
          <a:xfrm>
            <a:off x="4069079" y="3382572"/>
            <a:ext cx="438912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Flags items likely to breach SLA targets</a:t>
            </a:r>
          </a:p>
        </p:txBody>
      </p:sp>
      <p:sp>
        <p:nvSpPr>
          <p:cNvPr id="243" name="Shape 19"/>
          <p:cNvSpPr/>
          <p:nvPr/>
        </p:nvSpPr>
        <p:spPr>
          <a:xfrm>
            <a:off x="457200" y="3858767"/>
            <a:ext cx="8229600" cy="548642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4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94359" y="3950208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ext 20"/>
          <p:cNvSpPr txBox="1"/>
          <p:nvPr/>
        </p:nvSpPr>
        <p:spPr>
          <a:xfrm>
            <a:off x="1143000" y="3917120"/>
            <a:ext cx="26517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Health Agent</a:t>
            </a:r>
          </a:p>
        </p:txBody>
      </p:sp>
      <p:sp>
        <p:nvSpPr>
          <p:cNvPr id="246" name="Text 21"/>
          <p:cNvSpPr txBox="1"/>
          <p:nvPr/>
        </p:nvSpPr>
        <p:spPr>
          <a:xfrm>
            <a:off x="1143000" y="4216830"/>
            <a:ext cx="26517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2DC8E8"/>
                </a:solidFill>
              </a:defRPr>
            </a:lvl1pPr>
          </a:lstStyle>
          <a:p>
            <a:pPr/>
            <a:r>
              <a:t>Calculates Shift Health</a:t>
            </a:r>
          </a:p>
        </p:txBody>
      </p:sp>
      <p:sp>
        <p:nvSpPr>
          <p:cNvPr id="247" name="Text 22"/>
          <p:cNvSpPr txBox="1"/>
          <p:nvPr/>
        </p:nvSpPr>
        <p:spPr>
          <a:xfrm>
            <a:off x="4069079" y="4004363"/>
            <a:ext cx="438912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Produces an overall shift quality score</a:t>
            </a:r>
          </a:p>
        </p:txBody>
      </p:sp>
      <p:sp>
        <p:nvSpPr>
          <p:cNvPr id="248" name="Shape 23"/>
          <p:cNvSpPr/>
          <p:nvPr/>
        </p:nvSpPr>
        <p:spPr>
          <a:xfrm>
            <a:off x="457200" y="4480559"/>
            <a:ext cx="8229600" cy="548642"/>
          </a:xfrm>
          <a:prstGeom prst="roundRect">
            <a:avLst>
              <a:gd name="adj" fmla="val 11667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9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94359" y="4572000"/>
            <a:ext cx="365762" cy="365760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 24"/>
          <p:cNvSpPr txBox="1"/>
          <p:nvPr/>
        </p:nvSpPr>
        <p:spPr>
          <a:xfrm>
            <a:off x="1143000" y="4538911"/>
            <a:ext cx="265176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Report Agent</a:t>
            </a:r>
          </a:p>
        </p:txBody>
      </p:sp>
      <p:sp>
        <p:nvSpPr>
          <p:cNvPr id="251" name="Text 25"/>
          <p:cNvSpPr txBox="1"/>
          <p:nvPr/>
        </p:nvSpPr>
        <p:spPr>
          <a:xfrm>
            <a:off x="1143000" y="4838623"/>
            <a:ext cx="265176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02C39A"/>
                </a:solidFill>
              </a:defRPr>
            </a:lvl1pPr>
          </a:lstStyle>
          <a:p>
            <a:pPr/>
            <a:r>
              <a:t>Creates Final Handover</a:t>
            </a:r>
          </a:p>
        </p:txBody>
      </p:sp>
      <p:sp>
        <p:nvSpPr>
          <p:cNvPr id="252" name="Text 26"/>
          <p:cNvSpPr txBox="1"/>
          <p:nvPr/>
        </p:nvSpPr>
        <p:spPr>
          <a:xfrm>
            <a:off x="4069079" y="4626155"/>
            <a:ext cx="438912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Assembles structured report for next shift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Streamlit?</a:t>
            </a:r>
          </a:p>
        </p:txBody>
      </p:sp>
      <p:pic>
        <p:nvPicPr>
          <p:cNvPr id="2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1280162" cy="128016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 2"/>
          <p:cNvSpPr txBox="1"/>
          <p:nvPr/>
        </p:nvSpPr>
        <p:spPr>
          <a:xfrm>
            <a:off x="1965960" y="1238251"/>
            <a:ext cx="6675119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2DC8E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Frontend Layer</a:t>
            </a:r>
          </a:p>
        </p:txBody>
      </p:sp>
      <p:sp>
        <p:nvSpPr>
          <p:cNvPr id="258" name="Text 3"/>
          <p:cNvSpPr txBox="1"/>
          <p:nvPr/>
        </p:nvSpPr>
        <p:spPr>
          <a:xfrm>
            <a:off x="1965960" y="1722560"/>
            <a:ext cx="667511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94A3B8"/>
                </a:solidFill>
              </a:defRPr>
            </a:lvl1pPr>
          </a:lstStyle>
          <a:p>
            <a:pPr/>
            <a:r>
              <a:t>Pure Python — no HTML, CSS, or JavaScript required</a:t>
            </a:r>
          </a:p>
        </p:txBody>
      </p:sp>
      <p:sp>
        <p:nvSpPr>
          <p:cNvPr id="259" name="Shape 4"/>
          <p:cNvSpPr/>
          <p:nvPr/>
        </p:nvSpPr>
        <p:spPr>
          <a:xfrm>
            <a:off x="457200" y="2606038"/>
            <a:ext cx="2651762" cy="2194562"/>
          </a:xfrm>
          <a:prstGeom prst="roundRect">
            <a:avLst>
              <a:gd name="adj" fmla="val 416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6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63038" y="2788920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5"/>
          <p:cNvSpPr txBox="1"/>
          <p:nvPr/>
        </p:nvSpPr>
        <p:spPr>
          <a:xfrm>
            <a:off x="502919" y="3572065"/>
            <a:ext cx="256032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Fast Development</a:t>
            </a:r>
          </a:p>
        </p:txBody>
      </p:sp>
      <p:sp>
        <p:nvSpPr>
          <p:cNvPr id="262" name="Text 6"/>
          <p:cNvSpPr txBox="1"/>
          <p:nvPr/>
        </p:nvSpPr>
        <p:spPr>
          <a:xfrm>
            <a:off x="594358" y="3992171"/>
            <a:ext cx="2377444" cy="62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Build interactive dashboards in hours, not days. Python native from line one.</a:t>
            </a:r>
          </a:p>
        </p:txBody>
      </p:sp>
      <p:sp>
        <p:nvSpPr>
          <p:cNvPr id="263" name="Shape 7"/>
          <p:cNvSpPr/>
          <p:nvPr/>
        </p:nvSpPr>
        <p:spPr>
          <a:xfrm>
            <a:off x="3291840" y="2606038"/>
            <a:ext cx="2651762" cy="2194562"/>
          </a:xfrm>
          <a:prstGeom prst="roundRect">
            <a:avLst>
              <a:gd name="adj" fmla="val 416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6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7679" y="2788920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 8"/>
          <p:cNvSpPr txBox="1"/>
          <p:nvPr/>
        </p:nvSpPr>
        <p:spPr>
          <a:xfrm>
            <a:off x="3337559" y="3572065"/>
            <a:ext cx="256032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Interactive Dashboard</a:t>
            </a:r>
          </a:p>
        </p:txBody>
      </p:sp>
      <p:sp>
        <p:nvSpPr>
          <p:cNvPr id="266" name="Text 9"/>
          <p:cNvSpPr txBox="1"/>
          <p:nvPr/>
        </p:nvSpPr>
        <p:spPr>
          <a:xfrm>
            <a:off x="3429000" y="4087421"/>
            <a:ext cx="2377442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Real-time controls, file uploads, data views — all without frontend code.</a:t>
            </a:r>
          </a:p>
        </p:txBody>
      </p:sp>
      <p:sp>
        <p:nvSpPr>
          <p:cNvPr id="267" name="Shape 10"/>
          <p:cNvSpPr/>
          <p:nvPr/>
        </p:nvSpPr>
        <p:spPr>
          <a:xfrm>
            <a:off x="6126479" y="2606038"/>
            <a:ext cx="2651762" cy="2194562"/>
          </a:xfrm>
          <a:prstGeom prst="roundRect">
            <a:avLst>
              <a:gd name="adj" fmla="val 416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68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32318" y="2788920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Text 11"/>
          <p:cNvSpPr txBox="1"/>
          <p:nvPr/>
        </p:nvSpPr>
        <p:spPr>
          <a:xfrm>
            <a:off x="6172200" y="3572065"/>
            <a:ext cx="256032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Python Native</a:t>
            </a:r>
          </a:p>
        </p:txBody>
      </p:sp>
      <p:sp>
        <p:nvSpPr>
          <p:cNvPr id="270" name="Text 12"/>
          <p:cNvSpPr txBox="1"/>
          <p:nvPr/>
        </p:nvSpPr>
        <p:spPr>
          <a:xfrm>
            <a:off x="6263640" y="3992171"/>
            <a:ext cx="2377442" cy="62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Seamlessly integrates with our existing AI and data processing pipeline.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3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Python?</a:t>
            </a:r>
          </a:p>
        </p:txBody>
      </p:sp>
      <p:sp>
        <p:nvSpPr>
          <p:cNvPr id="274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Core Application Engine — the lingua franca of AI development</a:t>
            </a:r>
          </a:p>
        </p:txBody>
      </p:sp>
      <p:pic>
        <p:nvPicPr>
          <p:cNvPr id="2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371600"/>
            <a:ext cx="1280162" cy="1280162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hape 3"/>
          <p:cNvSpPr/>
          <p:nvPr/>
        </p:nvSpPr>
        <p:spPr>
          <a:xfrm>
            <a:off x="2011678" y="1371600"/>
            <a:ext cx="6675123" cy="914400"/>
          </a:xfrm>
          <a:prstGeom prst="roundRect">
            <a:avLst>
              <a:gd name="adj" fmla="val 8000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" name="Shape 4"/>
          <p:cNvSpPr/>
          <p:nvPr/>
        </p:nvSpPr>
        <p:spPr>
          <a:xfrm>
            <a:off x="2148838" y="1527047"/>
            <a:ext cx="256033" cy="256033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" name="Text 5"/>
          <p:cNvSpPr txBox="1"/>
          <p:nvPr/>
        </p:nvSpPr>
        <p:spPr>
          <a:xfrm>
            <a:off x="2560318" y="1450656"/>
            <a:ext cx="59436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DC8E8"/>
                </a:solidFill>
              </a:defRPr>
            </a:lvl1pPr>
          </a:lstStyle>
          <a:p>
            <a:pPr/>
            <a:r>
              <a:t>AI Ecosystem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2560318" y="1832663"/>
            <a:ext cx="5943603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LangChain, Transformers, Ollama bindings, NumPy, Pandas — all Python-first</a:t>
            </a:r>
          </a:p>
        </p:txBody>
      </p:sp>
      <p:sp>
        <p:nvSpPr>
          <p:cNvPr id="280" name="Shape 7"/>
          <p:cNvSpPr/>
          <p:nvPr/>
        </p:nvSpPr>
        <p:spPr>
          <a:xfrm>
            <a:off x="2011678" y="2487166"/>
            <a:ext cx="6675123" cy="914402"/>
          </a:xfrm>
          <a:prstGeom prst="roundRect">
            <a:avLst>
              <a:gd name="adj" fmla="val 8000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" name="Shape 8"/>
          <p:cNvSpPr/>
          <p:nvPr/>
        </p:nvSpPr>
        <p:spPr>
          <a:xfrm>
            <a:off x="2148838" y="2642616"/>
            <a:ext cx="256033" cy="256033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" name="Text 9"/>
          <p:cNvSpPr txBox="1"/>
          <p:nvPr/>
        </p:nvSpPr>
        <p:spPr>
          <a:xfrm>
            <a:off x="2560318" y="2566224"/>
            <a:ext cx="59436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DC8E8"/>
                </a:solidFill>
              </a:defRPr>
            </a:lvl1pPr>
          </a:lstStyle>
          <a:p>
            <a:pPr/>
            <a:r>
              <a:t>Data Processing</a:t>
            </a:r>
          </a:p>
        </p:txBody>
      </p:sp>
      <p:sp>
        <p:nvSpPr>
          <p:cNvPr id="283" name="Text 10"/>
          <p:cNvSpPr txBox="1"/>
          <p:nvPr/>
        </p:nvSpPr>
        <p:spPr>
          <a:xfrm>
            <a:off x="2560318" y="2948232"/>
            <a:ext cx="5943603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Powerful libraries for parsing, transforming, and analyzing incident data at scale</a:t>
            </a:r>
          </a:p>
        </p:txBody>
      </p:sp>
      <p:sp>
        <p:nvSpPr>
          <p:cNvPr id="284" name="Shape 11"/>
          <p:cNvSpPr/>
          <p:nvPr/>
        </p:nvSpPr>
        <p:spPr>
          <a:xfrm>
            <a:off x="2011678" y="3602735"/>
            <a:ext cx="6675123" cy="914402"/>
          </a:xfrm>
          <a:prstGeom prst="roundRect">
            <a:avLst>
              <a:gd name="adj" fmla="val 8000"/>
            </a:avLst>
          </a:prstGeom>
          <a:solidFill>
            <a:srgbClr val="132638"/>
          </a:solidFill>
          <a:ln w="6350">
            <a:solidFill>
              <a:srgbClr val="132032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" name="Shape 12"/>
          <p:cNvSpPr/>
          <p:nvPr/>
        </p:nvSpPr>
        <p:spPr>
          <a:xfrm>
            <a:off x="2148838" y="3758184"/>
            <a:ext cx="256033" cy="256033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" name="Text 13"/>
          <p:cNvSpPr txBox="1"/>
          <p:nvPr/>
        </p:nvSpPr>
        <p:spPr>
          <a:xfrm>
            <a:off x="2560318" y="3681792"/>
            <a:ext cx="594360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2DC8E8"/>
                </a:solidFill>
              </a:defRPr>
            </a:lvl1pPr>
          </a:lstStyle>
          <a:p>
            <a:pPr/>
            <a:r>
              <a:t>Rapid Development</a:t>
            </a:r>
          </a:p>
        </p:txBody>
      </p:sp>
      <p:sp>
        <p:nvSpPr>
          <p:cNvPr id="287" name="Text 14"/>
          <p:cNvSpPr txBox="1"/>
          <p:nvPr/>
        </p:nvSpPr>
        <p:spPr>
          <a:xfrm>
            <a:off x="2560318" y="4063799"/>
            <a:ext cx="5943603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From prototype to working pipeline in a single sprint — ideal for hackathon tempo</a:t>
            </a:r>
          </a:p>
        </p:txBody>
      </p:sp>
      <p:sp>
        <p:nvSpPr>
          <p:cNvPr id="288" name="Shape 15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9" name="Text 16"/>
          <p:cNvSpPr txBox="1"/>
          <p:nvPr/>
        </p:nvSpPr>
        <p:spPr>
          <a:xfrm>
            <a:off x="685799" y="4667304"/>
            <a:ext cx="777240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EBF4F8"/>
                </a:solidFill>
              </a:defRPr>
            </a:lvl1pPr>
          </a:lstStyle>
          <a:p>
            <a:pPr/>
            <a:r>
              <a:t>Python ties together Streamlit, Ollama, Llama 3, and all 6 agents in a unified runtime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2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Local AI Over Cloud?</a:t>
            </a:r>
          </a:p>
        </p:txBody>
      </p:sp>
      <p:sp>
        <p:nvSpPr>
          <p:cNvPr id="293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The case for keeping AI on-premises</a:t>
            </a:r>
          </a:p>
        </p:txBody>
      </p:sp>
      <p:sp>
        <p:nvSpPr>
          <p:cNvPr id="294" name="Shape 3"/>
          <p:cNvSpPr/>
          <p:nvPr/>
        </p:nvSpPr>
        <p:spPr>
          <a:xfrm>
            <a:off x="457200" y="1417319"/>
            <a:ext cx="402336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59" y="1554480"/>
            <a:ext cx="548641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Text 4"/>
          <p:cNvSpPr txBox="1"/>
          <p:nvPr/>
        </p:nvSpPr>
        <p:spPr>
          <a:xfrm>
            <a:off x="1325880" y="1589218"/>
            <a:ext cx="2926082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Privacy &amp; Security</a:t>
            </a:r>
          </a:p>
        </p:txBody>
      </p:sp>
      <p:sp>
        <p:nvSpPr>
          <p:cNvPr id="297" name="Text 5"/>
          <p:cNvSpPr txBox="1"/>
          <p:nvPr/>
        </p:nvSpPr>
        <p:spPr>
          <a:xfrm>
            <a:off x="1325880" y="2066598"/>
            <a:ext cx="2926082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Sensitive incident data never leaves the organization's infrastructure</a:t>
            </a:r>
          </a:p>
        </p:txBody>
      </p:sp>
      <p:sp>
        <p:nvSpPr>
          <p:cNvPr id="298" name="Shape 6"/>
          <p:cNvSpPr/>
          <p:nvPr/>
        </p:nvSpPr>
        <p:spPr>
          <a:xfrm>
            <a:off x="4800600" y="1417319"/>
            <a:ext cx="402336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9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7759" y="1554480"/>
            <a:ext cx="548642" cy="548641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Text 7"/>
          <p:cNvSpPr txBox="1"/>
          <p:nvPr/>
        </p:nvSpPr>
        <p:spPr>
          <a:xfrm>
            <a:off x="5669279" y="1589218"/>
            <a:ext cx="2926083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Lower Cost</a:t>
            </a:r>
          </a:p>
        </p:txBody>
      </p:sp>
      <p:sp>
        <p:nvSpPr>
          <p:cNvPr id="301" name="Text 8"/>
          <p:cNvSpPr txBox="1"/>
          <p:nvPr/>
        </p:nvSpPr>
        <p:spPr>
          <a:xfrm>
            <a:off x="5669279" y="2066598"/>
            <a:ext cx="2926083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No per-request API fees — unlimited AI calls at zero marginal cost</a:t>
            </a:r>
          </a:p>
        </p:txBody>
      </p:sp>
      <p:sp>
        <p:nvSpPr>
          <p:cNvPr id="302" name="Shape 9"/>
          <p:cNvSpPr/>
          <p:nvPr/>
        </p:nvSpPr>
        <p:spPr>
          <a:xfrm>
            <a:off x="457200" y="3154678"/>
            <a:ext cx="402336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0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4359" y="3291840"/>
            <a:ext cx="548641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Text 10"/>
          <p:cNvSpPr txBox="1"/>
          <p:nvPr/>
        </p:nvSpPr>
        <p:spPr>
          <a:xfrm>
            <a:off x="1325880" y="3326578"/>
            <a:ext cx="2926082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Faster Testing</a:t>
            </a:r>
          </a:p>
        </p:txBody>
      </p:sp>
      <p:sp>
        <p:nvSpPr>
          <p:cNvPr id="305" name="Text 11"/>
          <p:cNvSpPr txBox="1"/>
          <p:nvPr/>
        </p:nvSpPr>
        <p:spPr>
          <a:xfrm>
            <a:off x="1325880" y="3803957"/>
            <a:ext cx="2926082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No network roundtrips during development — iterate in seconds</a:t>
            </a:r>
          </a:p>
        </p:txBody>
      </p:sp>
      <p:sp>
        <p:nvSpPr>
          <p:cNvPr id="306" name="Shape 12"/>
          <p:cNvSpPr/>
          <p:nvPr/>
        </p:nvSpPr>
        <p:spPr>
          <a:xfrm>
            <a:off x="4800600" y="3154678"/>
            <a:ext cx="4023360" cy="1508762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07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37759" y="3291840"/>
            <a:ext cx="54864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Text 13"/>
          <p:cNvSpPr txBox="1"/>
          <p:nvPr/>
        </p:nvSpPr>
        <p:spPr>
          <a:xfrm>
            <a:off x="5669279" y="3326578"/>
            <a:ext cx="2926083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Offline Capability</a:t>
            </a:r>
          </a:p>
        </p:txBody>
      </p:sp>
      <p:sp>
        <p:nvSpPr>
          <p:cNvPr id="309" name="Text 14"/>
          <p:cNvSpPr txBox="1"/>
          <p:nvPr/>
        </p:nvSpPr>
        <p:spPr>
          <a:xfrm>
            <a:off x="5669279" y="3803957"/>
            <a:ext cx="2926083" cy="438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System functions even during internet outages or network incidents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313" name="Shape 2"/>
          <p:cNvSpPr/>
          <p:nvPr/>
        </p:nvSpPr>
        <p:spPr>
          <a:xfrm>
            <a:off x="411480" y="1005838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319" y="1097280"/>
            <a:ext cx="640081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ext 3"/>
          <p:cNvSpPr txBox="1"/>
          <p:nvPr/>
        </p:nvSpPr>
        <p:spPr>
          <a:xfrm>
            <a:off x="457200" y="1905439"/>
            <a:ext cx="2560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Automated Handover</a:t>
            </a:r>
          </a:p>
        </p:txBody>
      </p:sp>
      <p:sp>
        <p:nvSpPr>
          <p:cNvPr id="316" name="Text 4"/>
          <p:cNvSpPr txBox="1"/>
          <p:nvPr/>
        </p:nvSpPr>
        <p:spPr>
          <a:xfrm>
            <a:off x="548638" y="2282620"/>
            <a:ext cx="2377444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Zero manual effort, consistent every time</a:t>
            </a:r>
          </a:p>
        </p:txBody>
      </p:sp>
      <p:sp>
        <p:nvSpPr>
          <p:cNvPr id="317" name="Shape 5"/>
          <p:cNvSpPr/>
          <p:nvPr/>
        </p:nvSpPr>
        <p:spPr>
          <a:xfrm>
            <a:off x="3291840" y="1005838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1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97679" y="1097280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Text 6"/>
          <p:cNvSpPr txBox="1"/>
          <p:nvPr/>
        </p:nvSpPr>
        <p:spPr>
          <a:xfrm>
            <a:off x="3337559" y="1905439"/>
            <a:ext cx="2560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Duplicate Detection</a:t>
            </a:r>
          </a:p>
        </p:txBody>
      </p:sp>
      <p:sp>
        <p:nvSpPr>
          <p:cNvPr id="320" name="Text 7"/>
          <p:cNvSpPr txBox="1"/>
          <p:nvPr/>
        </p:nvSpPr>
        <p:spPr>
          <a:xfrm>
            <a:off x="3429000" y="2282620"/>
            <a:ext cx="237744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Smart deduplication across all data sources</a:t>
            </a:r>
          </a:p>
        </p:txBody>
      </p:sp>
      <p:sp>
        <p:nvSpPr>
          <p:cNvPr id="321" name="Shape 8"/>
          <p:cNvSpPr/>
          <p:nvPr/>
        </p:nvSpPr>
        <p:spPr>
          <a:xfrm>
            <a:off x="6172200" y="1005838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2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78040" y="1097280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Text 9"/>
          <p:cNvSpPr txBox="1"/>
          <p:nvPr/>
        </p:nvSpPr>
        <p:spPr>
          <a:xfrm>
            <a:off x="6217920" y="1905439"/>
            <a:ext cx="2560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Priority Classification</a:t>
            </a:r>
          </a:p>
        </p:txBody>
      </p:sp>
      <p:sp>
        <p:nvSpPr>
          <p:cNvPr id="324" name="Text 10"/>
          <p:cNvSpPr txBox="1"/>
          <p:nvPr/>
        </p:nvSpPr>
        <p:spPr>
          <a:xfrm>
            <a:off x="6309359" y="2365170"/>
            <a:ext cx="237744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AI-ranked critical issues front and center</a:t>
            </a:r>
          </a:p>
        </p:txBody>
      </p:sp>
      <p:sp>
        <p:nvSpPr>
          <p:cNvPr id="325" name="Shape 11"/>
          <p:cNvSpPr/>
          <p:nvPr/>
        </p:nvSpPr>
        <p:spPr>
          <a:xfrm>
            <a:off x="411480" y="2971800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EF4444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2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7319" y="3063238"/>
            <a:ext cx="640081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Text 12"/>
          <p:cNvSpPr txBox="1"/>
          <p:nvPr/>
        </p:nvSpPr>
        <p:spPr>
          <a:xfrm>
            <a:off x="457200" y="3871400"/>
            <a:ext cx="25603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SLA Risk Prediction</a:t>
            </a:r>
          </a:p>
        </p:txBody>
      </p:sp>
      <p:sp>
        <p:nvSpPr>
          <p:cNvPr id="328" name="Text 13"/>
          <p:cNvSpPr txBox="1"/>
          <p:nvPr/>
        </p:nvSpPr>
        <p:spPr>
          <a:xfrm>
            <a:off x="548638" y="4248579"/>
            <a:ext cx="2377444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Early warning before deadlines are breached</a:t>
            </a:r>
          </a:p>
        </p:txBody>
      </p:sp>
      <p:sp>
        <p:nvSpPr>
          <p:cNvPr id="329" name="Shape 14"/>
          <p:cNvSpPr/>
          <p:nvPr/>
        </p:nvSpPr>
        <p:spPr>
          <a:xfrm>
            <a:off x="3291840" y="2971800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30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97679" y="3063238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Text 15"/>
          <p:cNvSpPr txBox="1"/>
          <p:nvPr/>
        </p:nvSpPr>
        <p:spPr>
          <a:xfrm>
            <a:off x="3337559" y="3871400"/>
            <a:ext cx="25603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Health Score</a:t>
            </a:r>
          </a:p>
        </p:txBody>
      </p:sp>
      <p:sp>
        <p:nvSpPr>
          <p:cNvPr id="332" name="Text 16"/>
          <p:cNvSpPr txBox="1"/>
          <p:nvPr/>
        </p:nvSpPr>
        <p:spPr>
          <a:xfrm>
            <a:off x="3429000" y="4331129"/>
            <a:ext cx="237744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At-a-glance shift quality metric</a:t>
            </a:r>
          </a:p>
        </p:txBody>
      </p:sp>
      <p:sp>
        <p:nvSpPr>
          <p:cNvPr id="333" name="Shape 17"/>
          <p:cNvSpPr/>
          <p:nvPr/>
        </p:nvSpPr>
        <p:spPr>
          <a:xfrm>
            <a:off x="6172200" y="2971800"/>
            <a:ext cx="2651762" cy="1737362"/>
          </a:xfrm>
          <a:prstGeom prst="roundRect">
            <a:avLst>
              <a:gd name="adj" fmla="val 6316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34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178040" y="3063238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Text 18"/>
          <p:cNvSpPr txBox="1"/>
          <p:nvPr/>
        </p:nvSpPr>
        <p:spPr>
          <a:xfrm>
            <a:off x="6217920" y="3871400"/>
            <a:ext cx="25603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AI Report Generation</a:t>
            </a:r>
          </a:p>
        </p:txBody>
      </p:sp>
      <p:sp>
        <p:nvSpPr>
          <p:cNvPr id="336" name="Text 19"/>
          <p:cNvSpPr txBox="1"/>
          <p:nvPr/>
        </p:nvSpPr>
        <p:spPr>
          <a:xfrm>
            <a:off x="6309359" y="4248579"/>
            <a:ext cx="237744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Llama 3-powered professional summaries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Business Benefits</a:t>
            </a:r>
          </a:p>
        </p:txBody>
      </p:sp>
      <p:sp>
        <p:nvSpPr>
          <p:cNvPr id="340" name="Shape 2"/>
          <p:cNvSpPr/>
          <p:nvPr/>
        </p:nvSpPr>
        <p:spPr>
          <a:xfrm>
            <a:off x="457200" y="1005838"/>
            <a:ext cx="8229600" cy="1234443"/>
          </a:xfrm>
          <a:prstGeom prst="roundRect">
            <a:avLst>
              <a:gd name="adj" fmla="val 740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1" name="Text 3"/>
          <p:cNvSpPr txBox="1"/>
          <p:nvPr/>
        </p:nvSpPr>
        <p:spPr>
          <a:xfrm>
            <a:off x="685799" y="1335603"/>
            <a:ext cx="7772401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b="1" sz="1600">
                <a:solidFill>
                  <a:srgbClr val="EF4444"/>
                </a:solidFill>
              </a:defRPr>
            </a:pPr>
            <a:r>
              <a:t>Manual Handover: </a:t>
            </a:r>
            <a:r>
              <a:rPr b="0"/>
              <a:t>30–45 minutes</a:t>
            </a:r>
            <a:r>
              <a:rPr b="0">
                <a:solidFill>
                  <a:srgbClr val="0EA5C8"/>
                </a:solidFill>
              </a:rPr>
              <a:t>     →     </a:t>
            </a:r>
            <a:r>
              <a:rPr>
                <a:solidFill>
                  <a:srgbClr val="02C39A"/>
                </a:solidFill>
              </a:rPr>
              <a:t>AI Handover: </a:t>
            </a:r>
            <a:r>
              <a:rPr b="0">
                <a:solidFill>
                  <a:srgbClr val="02C39A"/>
                </a:solidFill>
              </a:rPr>
              <a:t>2–5 minutes</a:t>
            </a:r>
            <a:r>
              <a:rPr sz="1500">
                <a:solidFill>
                  <a:srgbClr val="F59E0B"/>
                </a:solidFill>
              </a:rPr>
              <a:t>   (90% faster)</a:t>
            </a:r>
          </a:p>
        </p:txBody>
      </p:sp>
      <p:sp>
        <p:nvSpPr>
          <p:cNvPr id="342" name="Text 4"/>
          <p:cNvSpPr txBox="1"/>
          <p:nvPr/>
        </p:nvSpPr>
        <p:spPr>
          <a:xfrm>
            <a:off x="685799" y="1910388"/>
            <a:ext cx="777240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Handover time saved per shift cycle</a:t>
            </a:r>
          </a:p>
        </p:txBody>
      </p:sp>
      <p:sp>
        <p:nvSpPr>
          <p:cNvPr id="343" name="Shape 5"/>
          <p:cNvSpPr/>
          <p:nvPr/>
        </p:nvSpPr>
        <p:spPr>
          <a:xfrm>
            <a:off x="457200" y="2423160"/>
            <a:ext cx="4023360" cy="1097282"/>
          </a:xfrm>
          <a:prstGeom prst="roundRect">
            <a:avLst>
              <a:gd name="adj" fmla="val 6667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59" y="2542032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Text 6"/>
          <p:cNvSpPr txBox="1"/>
          <p:nvPr/>
        </p:nvSpPr>
        <p:spPr>
          <a:xfrm>
            <a:off x="1234438" y="2520504"/>
            <a:ext cx="31089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Better Continuity</a:t>
            </a:r>
          </a:p>
        </p:txBody>
      </p:sp>
      <p:sp>
        <p:nvSpPr>
          <p:cNvPr id="346" name="Text 7"/>
          <p:cNvSpPr txBox="1"/>
          <p:nvPr/>
        </p:nvSpPr>
        <p:spPr>
          <a:xfrm>
            <a:off x="1234438" y="2920800"/>
            <a:ext cx="310896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Nothing falls through the cracks between shifts</a:t>
            </a:r>
          </a:p>
        </p:txBody>
      </p:sp>
      <p:sp>
        <p:nvSpPr>
          <p:cNvPr id="347" name="Shape 8"/>
          <p:cNvSpPr/>
          <p:nvPr/>
        </p:nvSpPr>
        <p:spPr>
          <a:xfrm>
            <a:off x="4800600" y="2423160"/>
            <a:ext cx="4023360" cy="1097282"/>
          </a:xfrm>
          <a:prstGeom prst="roundRect">
            <a:avLst>
              <a:gd name="adj" fmla="val 6667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4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7759" y="2542032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Text 9"/>
          <p:cNvSpPr txBox="1"/>
          <p:nvPr/>
        </p:nvSpPr>
        <p:spPr>
          <a:xfrm>
            <a:off x="5577840" y="2520504"/>
            <a:ext cx="31089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Faster Decisions</a:t>
            </a:r>
          </a:p>
        </p:txBody>
      </p:sp>
      <p:sp>
        <p:nvSpPr>
          <p:cNvPr id="350" name="Text 10"/>
          <p:cNvSpPr txBox="1"/>
          <p:nvPr/>
        </p:nvSpPr>
        <p:spPr>
          <a:xfrm>
            <a:off x="5577840" y="2825550"/>
            <a:ext cx="3108962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Next team has prioritized, actionable info instantly</a:t>
            </a:r>
          </a:p>
        </p:txBody>
      </p:sp>
      <p:sp>
        <p:nvSpPr>
          <p:cNvPr id="351" name="Shape 11"/>
          <p:cNvSpPr/>
          <p:nvPr/>
        </p:nvSpPr>
        <p:spPr>
          <a:xfrm>
            <a:off x="457200" y="3749040"/>
            <a:ext cx="4023360" cy="1097282"/>
          </a:xfrm>
          <a:prstGeom prst="roundRect">
            <a:avLst>
              <a:gd name="adj" fmla="val 6667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5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4359" y="386791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Text 12"/>
          <p:cNvSpPr txBox="1"/>
          <p:nvPr/>
        </p:nvSpPr>
        <p:spPr>
          <a:xfrm>
            <a:off x="1234438" y="3846384"/>
            <a:ext cx="31089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Reduced Risk</a:t>
            </a:r>
          </a:p>
        </p:txBody>
      </p:sp>
      <p:sp>
        <p:nvSpPr>
          <p:cNvPr id="354" name="Text 13"/>
          <p:cNvSpPr txBox="1"/>
          <p:nvPr/>
        </p:nvSpPr>
        <p:spPr>
          <a:xfrm>
            <a:off x="1234438" y="4246680"/>
            <a:ext cx="310896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AI catches what tired humans miss</a:t>
            </a:r>
          </a:p>
        </p:txBody>
      </p:sp>
      <p:sp>
        <p:nvSpPr>
          <p:cNvPr id="355" name="Shape 14"/>
          <p:cNvSpPr/>
          <p:nvPr/>
        </p:nvSpPr>
        <p:spPr>
          <a:xfrm>
            <a:off x="4800600" y="3749040"/>
            <a:ext cx="4023360" cy="1097282"/>
          </a:xfrm>
          <a:prstGeom prst="roundRect">
            <a:avLst>
              <a:gd name="adj" fmla="val 6667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5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37759" y="386791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Text 15"/>
          <p:cNvSpPr txBox="1"/>
          <p:nvPr/>
        </p:nvSpPr>
        <p:spPr>
          <a:xfrm>
            <a:off x="5577840" y="3846384"/>
            <a:ext cx="310896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Improved Productivity</a:t>
            </a:r>
          </a:p>
        </p:txBody>
      </p:sp>
      <p:sp>
        <p:nvSpPr>
          <p:cNvPr id="358" name="Text 16"/>
          <p:cNvSpPr txBox="1"/>
          <p:nvPr/>
        </p:nvSpPr>
        <p:spPr>
          <a:xfrm>
            <a:off x="5577840" y="4246680"/>
            <a:ext cx="310896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/>
            <a:r>
              <a:t>Teams start shifts in minutes, not 45 minutes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" name="Title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User Experience Design</a:t>
            </a:r>
          </a:p>
        </p:txBody>
      </p:sp>
      <p:sp>
        <p:nvSpPr>
          <p:cNvPr id="362" name="Sub"/>
          <p:cNvSpPr txBox="1"/>
          <p:nvPr/>
        </p:nvSpPr>
        <p:spPr>
          <a:xfrm>
            <a:off x="502919" y="754601"/>
            <a:ext cx="8138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400">
                <a:solidFill>
                  <a:srgbClr val="0EA5C8"/>
                </a:solidFill>
              </a:defRPr>
            </a:lvl1pPr>
          </a:lstStyle>
          <a:p>
            <a:pPr/>
            <a:r>
              <a:t>Designed for speed, clarity, and minimal cognitive load</a:t>
            </a:r>
          </a:p>
        </p:txBody>
      </p:sp>
      <p:sp>
        <p:nvSpPr>
          <p:cNvPr id="363" name="LeftCard"/>
          <p:cNvSpPr/>
          <p:nvPr/>
        </p:nvSpPr>
        <p:spPr>
          <a:xfrm>
            <a:off x="457200" y="1200000"/>
            <a:ext cx="2700000" cy="3300001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4" name="LeftCardTitle"/>
          <p:cNvSpPr txBox="1"/>
          <p:nvPr/>
        </p:nvSpPr>
        <p:spPr>
          <a:xfrm>
            <a:off x="600000" y="1269601"/>
            <a:ext cx="240000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EA5C8"/>
                </a:solidFill>
              </a:defRPr>
            </a:lvl1pPr>
          </a:lstStyle>
          <a:p>
            <a:pPr/>
            <a:r>
              <a:t>UX Goals</a:t>
            </a:r>
          </a:p>
        </p:txBody>
      </p:sp>
      <p:sp>
        <p:nvSpPr>
          <p:cNvPr id="365" name="LeftCardContent"/>
          <p:cNvSpPr txBox="1"/>
          <p:nvPr/>
        </p:nvSpPr>
        <p:spPr>
          <a:xfrm>
            <a:off x="600000" y="1956126"/>
            <a:ext cx="2400001" cy="140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Reduce information overload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Improve shift handover efficiency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Enable quick decision-making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Minimize manual effort</a:t>
            </a:r>
          </a:p>
        </p:txBody>
      </p:sp>
      <p:sp>
        <p:nvSpPr>
          <p:cNvPr id="366" name="MidCard"/>
          <p:cNvSpPr/>
          <p:nvPr/>
        </p:nvSpPr>
        <p:spPr>
          <a:xfrm>
            <a:off x="3291840" y="1200000"/>
            <a:ext cx="2600001" cy="3300001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" name="MidCardTitle"/>
          <p:cNvSpPr txBox="1"/>
          <p:nvPr/>
        </p:nvSpPr>
        <p:spPr>
          <a:xfrm>
            <a:off x="3399999" y="1269601"/>
            <a:ext cx="238000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2C39A"/>
                </a:solidFill>
              </a:defRPr>
            </a:lvl1pPr>
          </a:lstStyle>
          <a:p>
            <a:pPr/>
            <a:r>
              <a:t>UX Principles</a:t>
            </a:r>
          </a:p>
        </p:txBody>
      </p:sp>
      <p:sp>
        <p:nvSpPr>
          <p:cNvPr id="368" name="MidCardContent"/>
          <p:cNvSpPr txBox="1"/>
          <p:nvPr/>
        </p:nvSpPr>
        <p:spPr>
          <a:xfrm>
            <a:off x="3399999" y="1956126"/>
            <a:ext cx="2380001" cy="140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Visual-first dashboard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Minimal clicks to insights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KPI-driven interface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AI-assisted insights</a:t>
            </a:r>
          </a:p>
          <a:p>
            <a:pPr marL="228600">
              <a:lnSpc>
                <a:spcPct val="150000"/>
              </a:lnSpc>
              <a:buSzPct val="100000"/>
              <a:buChar char="▸"/>
              <a:defRPr sz="1300">
                <a:solidFill>
                  <a:srgbClr val="FFFFFF"/>
                </a:solidFill>
              </a:defRPr>
            </a:pPr>
            <a:r>
              <a:t>One-screen operational view</a:t>
            </a:r>
          </a:p>
        </p:txBody>
      </p:sp>
      <p:sp>
        <p:nvSpPr>
          <p:cNvPr id="369" name="RightCard"/>
          <p:cNvSpPr/>
          <p:nvPr/>
        </p:nvSpPr>
        <p:spPr>
          <a:xfrm>
            <a:off x="6022799" y="1200000"/>
            <a:ext cx="2660001" cy="3300001"/>
          </a:xfrm>
          <a:prstGeom prst="roundRect">
            <a:avLst>
              <a:gd name="adj" fmla="val 6061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" name="RightCardTitle"/>
          <p:cNvSpPr txBox="1"/>
          <p:nvPr/>
        </p:nvSpPr>
        <p:spPr>
          <a:xfrm>
            <a:off x="6150000" y="1269601"/>
            <a:ext cx="250000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F59E0B"/>
                </a:solidFill>
              </a:defRPr>
            </a:lvl1pPr>
          </a:lstStyle>
          <a:p>
            <a:pPr/>
            <a:r>
              <a:t>Dashboard View</a:t>
            </a:r>
          </a:p>
        </p:txBody>
      </p:sp>
      <p:grpSp>
        <p:nvGrpSpPr>
          <p:cNvPr id="373" name="KPI1"/>
          <p:cNvGrpSpPr/>
          <p:nvPr/>
        </p:nvGrpSpPr>
        <p:grpSpPr>
          <a:xfrm>
            <a:off x="6183680" y="1751765"/>
            <a:ext cx="1100001" cy="700001"/>
            <a:chOff x="0" y="0"/>
            <a:chExt cx="1100000" cy="700000"/>
          </a:xfrm>
        </p:grpSpPr>
        <p:sp>
          <p:nvSpPr>
            <p:cNvPr id="371" name="Rounded Rectangle"/>
            <p:cNvSpPr/>
            <p:nvPr/>
          </p:nvSpPr>
          <p:spPr>
            <a:xfrm>
              <a:off x="0" y="0"/>
              <a:ext cx="1100001" cy="700001"/>
            </a:xfrm>
            <a:prstGeom prst="roundRect">
              <a:avLst>
                <a:gd name="adj" fmla="val 10000"/>
              </a:avLst>
            </a:prstGeom>
            <a:solidFill>
              <a:srgbClr val="1A3A50"/>
            </a:solidFill>
            <a:ln w="9525" cap="flat">
              <a:solidFill>
                <a:srgbClr val="0EA5C8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72" name="Health…"/>
            <p:cNvSpPr txBox="1"/>
            <p:nvPr/>
          </p:nvSpPr>
          <p:spPr>
            <a:xfrm>
              <a:off x="25264" y="97360"/>
              <a:ext cx="1049472" cy="505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100">
                  <a:solidFill>
                    <a:srgbClr val="0EA5C8"/>
                  </a:solidFill>
                </a:defRPr>
              </a:pPr>
              <a:r>
                <a:t>Health</a:t>
              </a:r>
            </a:p>
            <a:p>
              <a:pPr algn="ctr">
                <a:defRPr b="1" sz="2000">
                  <a:solidFill>
                    <a:srgbClr val="02C39A"/>
                  </a:solidFill>
                </a:defRPr>
              </a:pPr>
              <a:r>
                <a:t>87%</a:t>
              </a:r>
            </a:p>
          </p:txBody>
        </p:sp>
      </p:grpSp>
      <p:grpSp>
        <p:nvGrpSpPr>
          <p:cNvPr id="376" name="KPI2"/>
          <p:cNvGrpSpPr/>
          <p:nvPr/>
        </p:nvGrpSpPr>
        <p:grpSpPr>
          <a:xfrm>
            <a:off x="7345207" y="1753133"/>
            <a:ext cx="1100001" cy="700001"/>
            <a:chOff x="0" y="0"/>
            <a:chExt cx="1100000" cy="700000"/>
          </a:xfrm>
        </p:grpSpPr>
        <p:sp>
          <p:nvSpPr>
            <p:cNvPr id="374" name="Rounded Rectangle"/>
            <p:cNvSpPr/>
            <p:nvPr/>
          </p:nvSpPr>
          <p:spPr>
            <a:xfrm>
              <a:off x="0" y="0"/>
              <a:ext cx="1100001" cy="700001"/>
            </a:xfrm>
            <a:prstGeom prst="roundRect">
              <a:avLst>
                <a:gd name="adj" fmla="val 10000"/>
              </a:avLst>
            </a:prstGeom>
            <a:solidFill>
              <a:srgbClr val="1A3A50"/>
            </a:solidFill>
            <a:ln w="9525" cap="flat">
              <a:solidFill>
                <a:srgbClr val="EF444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75" name="Incidents…"/>
            <p:cNvSpPr txBox="1"/>
            <p:nvPr/>
          </p:nvSpPr>
          <p:spPr>
            <a:xfrm>
              <a:off x="25264" y="97360"/>
              <a:ext cx="1049472" cy="505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100">
                  <a:solidFill>
                    <a:srgbClr val="EF4444"/>
                  </a:solidFill>
                </a:defRPr>
              </a:pPr>
              <a:r>
                <a:t>Incidents</a:t>
              </a:r>
            </a:p>
            <a:p>
              <a:pPr algn="ctr">
                <a:defRPr b="1" sz="2000">
                  <a:solidFill>
                    <a:srgbClr val="FFFFFF"/>
                  </a:solidFill>
                </a:defRPr>
              </a:pPr>
              <a:r>
                <a:t>14</a:t>
              </a:r>
            </a:p>
          </p:txBody>
        </p:sp>
      </p:grpSp>
      <p:grpSp>
        <p:nvGrpSpPr>
          <p:cNvPr id="379" name="KPI3"/>
          <p:cNvGrpSpPr/>
          <p:nvPr/>
        </p:nvGrpSpPr>
        <p:grpSpPr>
          <a:xfrm>
            <a:off x="6183680" y="2653133"/>
            <a:ext cx="1100001" cy="700001"/>
            <a:chOff x="0" y="0"/>
            <a:chExt cx="1100000" cy="700000"/>
          </a:xfrm>
        </p:grpSpPr>
        <p:sp>
          <p:nvSpPr>
            <p:cNvPr id="377" name="Rounded Rectangle"/>
            <p:cNvSpPr/>
            <p:nvPr/>
          </p:nvSpPr>
          <p:spPr>
            <a:xfrm>
              <a:off x="0" y="0"/>
              <a:ext cx="1100001" cy="700001"/>
            </a:xfrm>
            <a:prstGeom prst="roundRect">
              <a:avLst>
                <a:gd name="adj" fmla="val 10000"/>
              </a:avLst>
            </a:prstGeom>
            <a:solidFill>
              <a:srgbClr val="1A3A50"/>
            </a:solidFill>
            <a:ln w="9525" cap="flat">
              <a:solidFill>
                <a:srgbClr val="F59E0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78" name="SLA Risk…"/>
            <p:cNvSpPr txBox="1"/>
            <p:nvPr/>
          </p:nvSpPr>
          <p:spPr>
            <a:xfrm>
              <a:off x="25264" y="97360"/>
              <a:ext cx="1049472" cy="505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100">
                  <a:solidFill>
                    <a:srgbClr val="F59E0B"/>
                  </a:solidFill>
                </a:defRPr>
              </a:pPr>
              <a:r>
                <a:t>SLA Risk</a:t>
              </a:r>
            </a:p>
            <a:p>
              <a:pPr algn="ctr">
                <a:defRPr b="1" sz="2000">
                  <a:solidFill>
                    <a:srgbClr val="FFFFFF"/>
                  </a:solidFill>
                </a:defRPr>
              </a:pPr>
              <a:r>
                <a:t>3</a:t>
              </a:r>
            </a:p>
          </p:txBody>
        </p:sp>
      </p:grpSp>
      <p:grpSp>
        <p:nvGrpSpPr>
          <p:cNvPr id="382" name="KPI4"/>
          <p:cNvGrpSpPr/>
          <p:nvPr/>
        </p:nvGrpSpPr>
        <p:grpSpPr>
          <a:xfrm>
            <a:off x="7379999" y="2653133"/>
            <a:ext cx="1100001" cy="700001"/>
            <a:chOff x="0" y="0"/>
            <a:chExt cx="1100000" cy="700000"/>
          </a:xfrm>
        </p:grpSpPr>
        <p:sp>
          <p:nvSpPr>
            <p:cNvPr id="380" name="Rounded Rectangle"/>
            <p:cNvSpPr/>
            <p:nvPr/>
          </p:nvSpPr>
          <p:spPr>
            <a:xfrm>
              <a:off x="0" y="0"/>
              <a:ext cx="1100001" cy="700001"/>
            </a:xfrm>
            <a:prstGeom prst="roundRect">
              <a:avLst>
                <a:gd name="adj" fmla="val 10000"/>
              </a:avLst>
            </a:prstGeom>
            <a:solidFill>
              <a:srgbClr val="1A3A50"/>
            </a:solidFill>
            <a:ln w="9525" cap="flat">
              <a:solidFill>
                <a:srgbClr val="02C39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81" name="Reports…"/>
            <p:cNvSpPr txBox="1"/>
            <p:nvPr/>
          </p:nvSpPr>
          <p:spPr>
            <a:xfrm>
              <a:off x="25264" y="97360"/>
              <a:ext cx="1049472" cy="505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100">
                  <a:solidFill>
                    <a:srgbClr val="02C39A"/>
                  </a:solidFill>
                </a:defRPr>
              </a:pPr>
              <a:r>
                <a:t>Reports</a:t>
              </a:r>
            </a:p>
            <a:p>
              <a:pPr algn="ctr">
                <a:defRPr b="1" sz="2000">
                  <a:solidFill>
                    <a:srgbClr val="FFFFFF"/>
                  </a:solidFill>
                </a:defRPr>
              </a:pPr>
              <a:r>
                <a:t>AI</a:t>
              </a:r>
            </a:p>
          </p:txBody>
        </p:sp>
      </p:grpSp>
      <p:sp>
        <p:nvSpPr>
          <p:cNvPr id="383" name="RightCardNote"/>
          <p:cNvSpPr txBox="1"/>
          <p:nvPr/>
        </p:nvSpPr>
        <p:spPr>
          <a:xfrm>
            <a:off x="6135000" y="3566523"/>
            <a:ext cx="2530001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[ Dashboard Mockup 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itle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Dashboard &amp; Visualization</a:t>
            </a:r>
          </a:p>
        </p:txBody>
      </p:sp>
      <p:sp>
        <p:nvSpPr>
          <p:cNvPr id="387" name="Sub"/>
          <p:cNvSpPr txBox="1"/>
          <p:nvPr/>
        </p:nvSpPr>
        <p:spPr>
          <a:xfrm>
            <a:off x="502919" y="754601"/>
            <a:ext cx="8138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400">
                <a:solidFill>
                  <a:srgbClr val="0EA5C8"/>
                </a:solidFill>
              </a:defRPr>
            </a:lvl1pPr>
          </a:lstStyle>
          <a:p>
            <a:pPr/>
            <a:r>
              <a:t>Complete operational visibility on a single screen</a:t>
            </a:r>
          </a:p>
        </p:txBody>
      </p:sp>
      <p:grpSp>
        <p:nvGrpSpPr>
          <p:cNvPr id="390" name="F1"/>
          <p:cNvGrpSpPr/>
          <p:nvPr/>
        </p:nvGrpSpPr>
        <p:grpSpPr>
          <a:xfrm>
            <a:off x="457200" y="1200000"/>
            <a:ext cx="2700000" cy="1500001"/>
            <a:chOff x="0" y="0"/>
            <a:chExt cx="2699999" cy="1500000"/>
          </a:xfrm>
        </p:grpSpPr>
        <p:sp>
          <p:nvSpPr>
            <p:cNvPr id="388" name="Rounded Rectangle"/>
            <p:cNvSpPr/>
            <p:nvPr/>
          </p:nvSpPr>
          <p:spPr>
            <a:xfrm>
              <a:off x="0" y="0"/>
              <a:ext cx="2700000" cy="1500001"/>
            </a:xfrm>
            <a:prstGeom prst="roundRect">
              <a:avLst>
                <a:gd name="adj" fmla="val 6061"/>
              </a:avLst>
            </a:prstGeom>
            <a:solidFill>
              <a:srgbClr val="132638"/>
            </a:solidFill>
            <a:ln w="19050" cap="flat">
              <a:solidFill>
                <a:srgbClr val="02C39A"/>
              </a:solidFill>
              <a:prstDash val="solid"/>
              <a:round/>
            </a:ln>
            <a:effectLst>
              <a:outerShdw sx="100000" sy="100000" kx="0" ky="0" algn="b" rotWithShape="0" blurRad="1016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89" name="♥…"/>
            <p:cNvSpPr txBox="1"/>
            <p:nvPr/>
          </p:nvSpPr>
          <p:spPr>
            <a:xfrm>
              <a:off x="81872" y="305544"/>
              <a:ext cx="2536256" cy="8889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solidFill>
                    <a:srgbClr val="02C39A"/>
                  </a:solidFill>
                </a:defRPr>
              </a:pPr>
              <a:r>
                <a:t>♥</a:t>
              </a:r>
            </a:p>
            <a:p>
              <a:pPr algn="ctr">
                <a:defRPr b="1" sz="1300">
                  <a:solidFill>
                    <a:srgbClr val="FFFFFF"/>
                  </a:solidFill>
                </a:defRPr>
              </a:pPr>
              <a:r>
                <a:t>Health Score</a:t>
              </a:r>
            </a:p>
            <a:p>
              <a:pPr algn="ctr">
                <a:defRPr sz="1000">
                  <a:solidFill>
                    <a:srgbClr val="94A3B8"/>
                  </a:solidFill>
                </a:defRPr>
              </a:pPr>
              <a:r>
                <a:t>Monitoring</a:t>
              </a:r>
            </a:p>
          </p:txBody>
        </p:sp>
      </p:grpSp>
      <p:grpSp>
        <p:nvGrpSpPr>
          <p:cNvPr id="393" name="F2"/>
          <p:cNvGrpSpPr/>
          <p:nvPr/>
        </p:nvGrpSpPr>
        <p:grpSpPr>
          <a:xfrm>
            <a:off x="3320000" y="1200000"/>
            <a:ext cx="2500000" cy="1500001"/>
            <a:chOff x="0" y="0"/>
            <a:chExt cx="2499999" cy="1500000"/>
          </a:xfrm>
        </p:grpSpPr>
        <p:sp>
          <p:nvSpPr>
            <p:cNvPr id="391" name="Rounded Rectangle"/>
            <p:cNvSpPr/>
            <p:nvPr/>
          </p:nvSpPr>
          <p:spPr>
            <a:xfrm>
              <a:off x="0" y="0"/>
              <a:ext cx="2500000" cy="1500001"/>
            </a:xfrm>
            <a:prstGeom prst="roundRect">
              <a:avLst>
                <a:gd name="adj" fmla="val 6061"/>
              </a:avLst>
            </a:prstGeom>
            <a:solidFill>
              <a:srgbClr val="132638"/>
            </a:solidFill>
            <a:ln w="19050" cap="flat">
              <a:solidFill>
                <a:srgbClr val="EF4444"/>
              </a:solidFill>
              <a:prstDash val="solid"/>
              <a:round/>
            </a:ln>
            <a:effectLst>
              <a:outerShdw sx="100000" sy="100000" kx="0" ky="0" algn="b" rotWithShape="0" blurRad="1016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92" name="⚠…"/>
            <p:cNvSpPr txBox="1"/>
            <p:nvPr/>
          </p:nvSpPr>
          <p:spPr>
            <a:xfrm>
              <a:off x="81872" y="305544"/>
              <a:ext cx="2336256" cy="8889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solidFill>
                    <a:srgbClr val="EF4444"/>
                  </a:solidFill>
                </a:defRPr>
              </a:pPr>
              <a:r>
                <a:t>⚠</a:t>
              </a:r>
            </a:p>
            <a:p>
              <a:pPr algn="ctr">
                <a:defRPr b="1" sz="1300">
                  <a:solidFill>
                    <a:srgbClr val="FFFFFF"/>
                  </a:solidFill>
                </a:defRPr>
              </a:pPr>
              <a:r>
                <a:t>Incident Tracking</a:t>
              </a:r>
            </a:p>
            <a:p>
              <a:pPr algn="ctr">
                <a:defRPr sz="1000">
                  <a:solidFill>
                    <a:srgbClr val="94A3B8"/>
                  </a:solidFill>
                </a:defRPr>
              </a:pPr>
              <a:r>
                <a:t>Real-time</a:t>
              </a:r>
            </a:p>
          </p:txBody>
        </p:sp>
      </p:grpSp>
      <p:grpSp>
        <p:nvGrpSpPr>
          <p:cNvPr id="396" name="F3"/>
          <p:cNvGrpSpPr/>
          <p:nvPr/>
        </p:nvGrpSpPr>
        <p:grpSpPr>
          <a:xfrm>
            <a:off x="6019999" y="1200000"/>
            <a:ext cx="2700001" cy="1500001"/>
            <a:chOff x="0" y="0"/>
            <a:chExt cx="2699999" cy="1500000"/>
          </a:xfrm>
        </p:grpSpPr>
        <p:sp>
          <p:nvSpPr>
            <p:cNvPr id="394" name="Rounded Rectangle"/>
            <p:cNvSpPr/>
            <p:nvPr/>
          </p:nvSpPr>
          <p:spPr>
            <a:xfrm>
              <a:off x="0" y="0"/>
              <a:ext cx="2700000" cy="1500001"/>
            </a:xfrm>
            <a:prstGeom prst="roundRect">
              <a:avLst>
                <a:gd name="adj" fmla="val 6061"/>
              </a:avLst>
            </a:prstGeom>
            <a:solidFill>
              <a:srgbClr val="132638"/>
            </a:solidFill>
            <a:ln w="19050" cap="flat">
              <a:solidFill>
                <a:srgbClr val="F59E0B"/>
              </a:solidFill>
              <a:prstDash val="solid"/>
              <a:round/>
            </a:ln>
            <a:effectLst>
              <a:outerShdw sx="100000" sy="100000" kx="0" ky="0" algn="b" rotWithShape="0" blurRad="1016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95" name="⏱…"/>
            <p:cNvSpPr txBox="1"/>
            <p:nvPr/>
          </p:nvSpPr>
          <p:spPr>
            <a:xfrm>
              <a:off x="81872" y="343644"/>
              <a:ext cx="2536256" cy="812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solidFill>
                    <a:srgbClr val="F59E0B"/>
                  </a:solidFill>
                </a:defRPr>
              </a:pPr>
              <a:r>
                <a:t>⏱</a:t>
              </a:r>
            </a:p>
            <a:p>
              <a:pPr algn="ctr">
                <a:defRPr b="1" sz="1300">
                  <a:solidFill>
                    <a:srgbClr val="FFFFFF"/>
                  </a:solidFill>
                </a:defRPr>
              </a:pPr>
              <a:r>
                <a:t>SLA Risk Analysis</a:t>
              </a:r>
            </a:p>
            <a:p>
              <a:pPr algn="ctr">
                <a:defRPr sz="1000">
                  <a:solidFill>
                    <a:srgbClr val="94A3B8"/>
                  </a:solidFill>
                </a:defRPr>
              </a:pPr>
              <a:r>
                <a:t>Early warning</a:t>
              </a:r>
            </a:p>
          </p:txBody>
        </p:sp>
      </p:grpSp>
      <p:grpSp>
        <p:nvGrpSpPr>
          <p:cNvPr id="399" name="F4"/>
          <p:cNvGrpSpPr/>
          <p:nvPr/>
        </p:nvGrpSpPr>
        <p:grpSpPr>
          <a:xfrm>
            <a:off x="1493347" y="2864601"/>
            <a:ext cx="2700001" cy="1500001"/>
            <a:chOff x="0" y="0"/>
            <a:chExt cx="2699999" cy="1500000"/>
          </a:xfrm>
        </p:grpSpPr>
        <p:sp>
          <p:nvSpPr>
            <p:cNvPr id="397" name="Rounded Rectangle"/>
            <p:cNvSpPr/>
            <p:nvPr/>
          </p:nvSpPr>
          <p:spPr>
            <a:xfrm>
              <a:off x="0" y="0"/>
              <a:ext cx="2700000" cy="1500001"/>
            </a:xfrm>
            <a:prstGeom prst="roundRect">
              <a:avLst>
                <a:gd name="adj" fmla="val 6061"/>
              </a:avLst>
            </a:prstGeom>
            <a:solidFill>
              <a:srgbClr val="132638"/>
            </a:solidFill>
            <a:ln w="19050" cap="flat">
              <a:solidFill>
                <a:srgbClr val="0EA5C8"/>
              </a:solidFill>
              <a:prstDash val="solid"/>
              <a:round/>
            </a:ln>
            <a:effectLst>
              <a:outerShdw sx="100000" sy="100000" kx="0" ky="0" algn="b" rotWithShape="0" blurRad="1016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398" name="⚙…"/>
            <p:cNvSpPr txBox="1"/>
            <p:nvPr/>
          </p:nvSpPr>
          <p:spPr>
            <a:xfrm>
              <a:off x="81872" y="356344"/>
              <a:ext cx="2536256" cy="787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solidFill>
                    <a:srgbClr val="0EA5C8"/>
                  </a:solidFill>
                </a:defRPr>
              </a:pPr>
              <a:r>
                <a:t>⚙</a:t>
              </a:r>
            </a:p>
            <a:p>
              <a:pPr algn="ctr">
                <a:defRPr b="1" sz="1300">
                  <a:solidFill>
                    <a:srgbClr val="FFFFFF"/>
                  </a:solidFill>
                </a:defRPr>
              </a:pPr>
              <a:r>
                <a:t>AI Recommendations</a:t>
              </a:r>
            </a:p>
            <a:p>
              <a:pPr algn="ctr">
                <a:defRPr sz="1000">
                  <a:solidFill>
                    <a:srgbClr val="94A3B8"/>
                  </a:solidFill>
                </a:defRPr>
              </a:pPr>
              <a:r>
                <a:t>Llama 3 powered</a:t>
              </a:r>
            </a:p>
          </p:txBody>
        </p:sp>
      </p:grpSp>
      <p:grpSp>
        <p:nvGrpSpPr>
          <p:cNvPr id="402" name="F5"/>
          <p:cNvGrpSpPr/>
          <p:nvPr/>
        </p:nvGrpSpPr>
        <p:grpSpPr>
          <a:xfrm>
            <a:off x="5135660" y="2864601"/>
            <a:ext cx="2500000" cy="1500001"/>
            <a:chOff x="0" y="0"/>
            <a:chExt cx="2499999" cy="1500000"/>
          </a:xfrm>
        </p:grpSpPr>
        <p:sp>
          <p:nvSpPr>
            <p:cNvPr id="400" name="Rounded Rectangle"/>
            <p:cNvSpPr/>
            <p:nvPr/>
          </p:nvSpPr>
          <p:spPr>
            <a:xfrm>
              <a:off x="0" y="0"/>
              <a:ext cx="2500000" cy="1500001"/>
            </a:xfrm>
            <a:prstGeom prst="roundRect">
              <a:avLst>
                <a:gd name="adj" fmla="val 6061"/>
              </a:avLst>
            </a:prstGeom>
            <a:solidFill>
              <a:srgbClr val="132638"/>
            </a:solidFill>
            <a:ln w="19050" cap="flat">
              <a:solidFill>
                <a:srgbClr val="2DC8E8"/>
              </a:solidFill>
              <a:prstDash val="solid"/>
              <a:round/>
            </a:ln>
            <a:effectLst>
              <a:outerShdw sx="100000" sy="100000" kx="0" ky="0" algn="b" rotWithShape="0" blurRad="101600" dist="38100" dir="270000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01" name="📋…"/>
            <p:cNvSpPr txBox="1"/>
            <p:nvPr/>
          </p:nvSpPr>
          <p:spPr>
            <a:xfrm>
              <a:off x="81872" y="330944"/>
              <a:ext cx="2336256" cy="838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2400">
                  <a:solidFill>
                    <a:srgbClr val="2DC8E8"/>
                  </a:solidFill>
                </a:defRPr>
              </a:pPr>
              <a:r>
                <a:t>📋</a:t>
              </a:r>
            </a:p>
            <a:p>
              <a:pPr algn="ctr">
                <a:defRPr b="1" sz="1300">
                  <a:solidFill>
                    <a:srgbClr val="FFFFFF"/>
                  </a:solidFill>
                </a:defRPr>
              </a:pPr>
              <a:r>
                <a:t>Shift Reports</a:t>
              </a:r>
            </a:p>
            <a:p>
              <a:pPr algn="ctr">
                <a:defRPr sz="1000">
                  <a:solidFill>
                    <a:srgbClr val="94A3B8"/>
                  </a:solidFill>
                </a:defRPr>
              </a:pPr>
              <a:r>
                <a:t>Auto-generated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Title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Business Value</a:t>
            </a:r>
          </a:p>
        </p:txBody>
      </p:sp>
      <p:sp>
        <p:nvSpPr>
          <p:cNvPr id="406" name="Sub"/>
          <p:cNvSpPr txBox="1"/>
          <p:nvPr/>
        </p:nvSpPr>
        <p:spPr>
          <a:xfrm>
            <a:off x="502919" y="754601"/>
            <a:ext cx="8138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400">
                <a:solidFill>
                  <a:srgbClr val="0EA5C8"/>
                </a:solidFill>
              </a:defRPr>
            </a:lvl1pPr>
          </a:lstStyle>
          <a:p>
            <a:pPr/>
            <a:r>
              <a:t>Traditional process vs. Zenova AI — a clear operational advantage</a:t>
            </a:r>
          </a:p>
        </p:txBody>
      </p:sp>
      <p:grpSp>
        <p:nvGrpSpPr>
          <p:cNvPr id="409" name="HdrTrad"/>
          <p:cNvGrpSpPr/>
          <p:nvPr/>
        </p:nvGrpSpPr>
        <p:grpSpPr>
          <a:xfrm>
            <a:off x="457200" y="1200000"/>
            <a:ext cx="3800000" cy="420001"/>
            <a:chOff x="0" y="0"/>
            <a:chExt cx="3799999" cy="419999"/>
          </a:xfrm>
        </p:grpSpPr>
        <p:sp>
          <p:nvSpPr>
            <p:cNvPr id="407" name="Rounded Rectangle"/>
            <p:cNvSpPr/>
            <p:nvPr/>
          </p:nvSpPr>
          <p:spPr>
            <a:xfrm>
              <a:off x="0" y="0"/>
              <a:ext cx="3800000" cy="420000"/>
            </a:xfrm>
            <a:prstGeom prst="roundRect">
              <a:avLst>
                <a:gd name="adj" fmla="val 4000"/>
              </a:avLst>
            </a:prstGeom>
            <a:solidFill>
              <a:srgbClr val="1A2A3A"/>
            </a:solidFill>
            <a:ln w="12700" cap="flat">
              <a:solidFill>
                <a:srgbClr val="EF444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08" name="✕  Traditional Process"/>
            <p:cNvSpPr txBox="1"/>
            <p:nvPr/>
          </p:nvSpPr>
          <p:spPr>
            <a:xfrm>
              <a:off x="56990" y="62053"/>
              <a:ext cx="3686018" cy="295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EF4444"/>
                  </a:solidFill>
                </a:defRPr>
              </a:lvl1pPr>
            </a:lstStyle>
            <a:p>
              <a:pPr/>
              <a:r>
                <a:t>✕  Traditional Process</a:t>
              </a:r>
            </a:p>
          </p:txBody>
        </p:sp>
      </p:grpSp>
      <p:grpSp>
        <p:nvGrpSpPr>
          <p:cNvPr id="412" name="HdrZenova"/>
          <p:cNvGrpSpPr/>
          <p:nvPr/>
        </p:nvGrpSpPr>
        <p:grpSpPr>
          <a:xfrm>
            <a:off x="4886800" y="1200000"/>
            <a:ext cx="3800000" cy="420001"/>
            <a:chOff x="0" y="0"/>
            <a:chExt cx="3799999" cy="419999"/>
          </a:xfrm>
        </p:grpSpPr>
        <p:sp>
          <p:nvSpPr>
            <p:cNvPr id="410" name="Rounded Rectangle"/>
            <p:cNvSpPr/>
            <p:nvPr/>
          </p:nvSpPr>
          <p:spPr>
            <a:xfrm>
              <a:off x="0" y="0"/>
              <a:ext cx="3800000" cy="420000"/>
            </a:xfrm>
            <a:prstGeom prst="roundRect">
              <a:avLst>
                <a:gd name="adj" fmla="val 4000"/>
              </a:avLst>
            </a:prstGeom>
            <a:solidFill>
              <a:srgbClr val="0D2A1A"/>
            </a:solidFill>
            <a:ln w="12700" cap="flat">
              <a:solidFill>
                <a:srgbClr val="02C39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11" name="✓  Zenova AI Platform"/>
            <p:cNvSpPr txBox="1"/>
            <p:nvPr/>
          </p:nvSpPr>
          <p:spPr>
            <a:xfrm>
              <a:off x="56990" y="46259"/>
              <a:ext cx="3686018" cy="327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02C39A"/>
                  </a:solidFill>
                </a:defRPr>
              </a:lvl1pPr>
            </a:lstStyle>
            <a:p>
              <a:pPr/>
              <a:r>
                <a:t>✓  Zenova AI Platform</a:t>
              </a:r>
            </a:p>
          </p:txBody>
        </p:sp>
      </p:grpSp>
      <p:grpSp>
        <p:nvGrpSpPr>
          <p:cNvPr id="415" name="R1L"/>
          <p:cNvGrpSpPr/>
          <p:nvPr/>
        </p:nvGrpSpPr>
        <p:grpSpPr>
          <a:xfrm>
            <a:off x="457199" y="1699999"/>
            <a:ext cx="3800001" cy="560001"/>
            <a:chOff x="0" y="0"/>
            <a:chExt cx="3799999" cy="560000"/>
          </a:xfrm>
        </p:grpSpPr>
        <p:sp>
          <p:nvSpPr>
            <p:cNvPr id="413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13263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14" name="✕  Manual Analysis"/>
            <p:cNvSpPr txBox="1"/>
            <p:nvPr/>
          </p:nvSpPr>
          <p:spPr>
            <a:xfrm>
              <a:off x="95042" y="152498"/>
              <a:ext cx="3654475" cy="255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EF4444"/>
                  </a:solidFill>
                </a:defRPr>
              </a:pPr>
              <a:r>
                <a:t>✕  </a:t>
              </a:r>
              <a:r>
                <a:rPr>
                  <a:solidFill>
                    <a:srgbClr val="FFFFFF"/>
                  </a:solidFill>
                </a:rPr>
                <a:t>Manual Analysis</a:t>
              </a:r>
            </a:p>
          </p:txBody>
        </p:sp>
      </p:grpSp>
      <p:grpSp>
        <p:nvGrpSpPr>
          <p:cNvPr id="418" name="R1R"/>
          <p:cNvGrpSpPr/>
          <p:nvPr/>
        </p:nvGrpSpPr>
        <p:grpSpPr>
          <a:xfrm>
            <a:off x="4886800" y="1699999"/>
            <a:ext cx="3800000" cy="560001"/>
            <a:chOff x="0" y="0"/>
            <a:chExt cx="3799999" cy="560000"/>
          </a:xfrm>
        </p:grpSpPr>
        <p:sp>
          <p:nvSpPr>
            <p:cNvPr id="416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D221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17" name="✓  AI Automation"/>
            <p:cNvSpPr txBox="1"/>
            <p:nvPr/>
          </p:nvSpPr>
          <p:spPr>
            <a:xfrm>
              <a:off x="95042" y="136053"/>
              <a:ext cx="3654475" cy="287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02C39A"/>
                  </a:solidFill>
                </a:defRPr>
              </a:pPr>
              <a:r>
                <a:t>✓  </a:t>
              </a:r>
              <a:r>
                <a:rPr>
                  <a:solidFill>
                    <a:srgbClr val="FFFFFF"/>
                  </a:solidFill>
                </a:rPr>
                <a:t>AI Automation</a:t>
              </a:r>
            </a:p>
          </p:txBody>
        </p:sp>
      </p:grpSp>
      <p:grpSp>
        <p:nvGrpSpPr>
          <p:cNvPr id="421" name="R2L"/>
          <p:cNvGrpSpPr/>
          <p:nvPr/>
        </p:nvGrpSpPr>
        <p:grpSpPr>
          <a:xfrm>
            <a:off x="457199" y="2310000"/>
            <a:ext cx="3800001" cy="560001"/>
            <a:chOff x="0" y="0"/>
            <a:chExt cx="3799999" cy="560000"/>
          </a:xfrm>
        </p:grpSpPr>
        <p:sp>
          <p:nvSpPr>
            <p:cNvPr id="419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F2030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20" name="✕  Multiple Disconnected Tools"/>
            <p:cNvSpPr txBox="1"/>
            <p:nvPr/>
          </p:nvSpPr>
          <p:spPr>
            <a:xfrm>
              <a:off x="95042" y="152498"/>
              <a:ext cx="3654475" cy="255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EF4444"/>
                  </a:solidFill>
                </a:defRPr>
              </a:pPr>
              <a:r>
                <a:t>✕  </a:t>
              </a:r>
              <a:r>
                <a:rPr>
                  <a:solidFill>
                    <a:srgbClr val="FFFFFF"/>
                  </a:solidFill>
                </a:rPr>
                <a:t>Multiple Disconnected Tools</a:t>
              </a:r>
            </a:p>
          </p:txBody>
        </p:sp>
      </p:grpSp>
      <p:grpSp>
        <p:nvGrpSpPr>
          <p:cNvPr id="424" name="R2R"/>
          <p:cNvGrpSpPr/>
          <p:nvPr/>
        </p:nvGrpSpPr>
        <p:grpSpPr>
          <a:xfrm>
            <a:off x="4886800" y="2310000"/>
            <a:ext cx="3800000" cy="560001"/>
            <a:chOff x="0" y="0"/>
            <a:chExt cx="3799999" cy="560000"/>
          </a:xfrm>
        </p:grpSpPr>
        <p:sp>
          <p:nvSpPr>
            <p:cNvPr id="422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A1E10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23" name="✓  Single Unified Platform"/>
            <p:cNvSpPr txBox="1"/>
            <p:nvPr/>
          </p:nvSpPr>
          <p:spPr>
            <a:xfrm>
              <a:off x="95042" y="136053"/>
              <a:ext cx="3654475" cy="287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02C39A"/>
                  </a:solidFill>
                </a:defRPr>
              </a:pPr>
              <a:r>
                <a:t>✓  </a:t>
              </a:r>
              <a:r>
                <a:rPr>
                  <a:solidFill>
                    <a:srgbClr val="FFFFFF"/>
                  </a:solidFill>
                </a:rPr>
                <a:t>Single Unified Platform</a:t>
              </a:r>
            </a:p>
          </p:txBody>
        </p:sp>
      </p:grpSp>
      <p:grpSp>
        <p:nvGrpSpPr>
          <p:cNvPr id="427" name="R3L"/>
          <p:cNvGrpSpPr/>
          <p:nvPr/>
        </p:nvGrpSpPr>
        <p:grpSpPr>
          <a:xfrm>
            <a:off x="457199" y="2920000"/>
            <a:ext cx="3800001" cy="560001"/>
            <a:chOff x="0" y="0"/>
            <a:chExt cx="3799999" cy="560000"/>
          </a:xfrm>
        </p:grpSpPr>
        <p:sp>
          <p:nvSpPr>
            <p:cNvPr id="425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13263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26" name="✕  Time Consuming — 30–60 min"/>
            <p:cNvSpPr txBox="1"/>
            <p:nvPr/>
          </p:nvSpPr>
          <p:spPr>
            <a:xfrm>
              <a:off x="95042" y="152498"/>
              <a:ext cx="3654475" cy="255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EF4444"/>
                  </a:solidFill>
                </a:defRPr>
              </a:pPr>
              <a:r>
                <a:t>✕  </a:t>
              </a:r>
              <a:r>
                <a:rPr>
                  <a:solidFill>
                    <a:srgbClr val="FFFFFF"/>
                  </a:solidFill>
                </a:rPr>
                <a:t>Time Consuming — 30–60 min</a:t>
              </a:r>
            </a:p>
          </p:txBody>
        </p:sp>
      </p:grpSp>
      <p:grpSp>
        <p:nvGrpSpPr>
          <p:cNvPr id="430" name="R3R"/>
          <p:cNvGrpSpPr/>
          <p:nvPr/>
        </p:nvGrpSpPr>
        <p:grpSpPr>
          <a:xfrm>
            <a:off x="4886800" y="2920000"/>
            <a:ext cx="3800000" cy="560001"/>
            <a:chOff x="0" y="0"/>
            <a:chExt cx="3799999" cy="560000"/>
          </a:xfrm>
        </p:grpSpPr>
        <p:sp>
          <p:nvSpPr>
            <p:cNvPr id="428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D221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29" name="✓  Faster Decisions — 2–5 min"/>
            <p:cNvSpPr txBox="1"/>
            <p:nvPr/>
          </p:nvSpPr>
          <p:spPr>
            <a:xfrm>
              <a:off x="95042" y="136053"/>
              <a:ext cx="3654475" cy="287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02C39A"/>
                  </a:solidFill>
                </a:defRPr>
              </a:pPr>
              <a:r>
                <a:t>✓  </a:t>
              </a:r>
              <a:r>
                <a:rPr>
                  <a:solidFill>
                    <a:srgbClr val="FFFFFF"/>
                  </a:solidFill>
                </a:rPr>
                <a:t>Faster Decisions — 2–5 min</a:t>
              </a:r>
            </a:p>
          </p:txBody>
        </p:sp>
      </p:grpSp>
      <p:grpSp>
        <p:nvGrpSpPr>
          <p:cNvPr id="433" name="R4L"/>
          <p:cNvGrpSpPr/>
          <p:nvPr/>
        </p:nvGrpSpPr>
        <p:grpSpPr>
          <a:xfrm>
            <a:off x="457199" y="3530000"/>
            <a:ext cx="3800001" cy="560001"/>
            <a:chOff x="0" y="0"/>
            <a:chExt cx="3799999" cy="560000"/>
          </a:xfrm>
        </p:grpSpPr>
        <p:sp>
          <p:nvSpPr>
            <p:cNvPr id="431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F2030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32" name="✕  Risk of Missing Incidents"/>
            <p:cNvSpPr txBox="1"/>
            <p:nvPr/>
          </p:nvSpPr>
          <p:spPr>
            <a:xfrm>
              <a:off x="95042" y="152498"/>
              <a:ext cx="3654475" cy="255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EF4444"/>
                  </a:solidFill>
                </a:defRPr>
              </a:pPr>
              <a:r>
                <a:t>✕  </a:t>
              </a:r>
              <a:r>
                <a:rPr>
                  <a:solidFill>
                    <a:srgbClr val="FFFFFF"/>
                  </a:solidFill>
                </a:rPr>
                <a:t>Risk of Missing Incidents</a:t>
              </a:r>
            </a:p>
          </p:txBody>
        </p:sp>
      </p:grpSp>
      <p:grpSp>
        <p:nvGrpSpPr>
          <p:cNvPr id="436" name="R4R"/>
          <p:cNvGrpSpPr/>
          <p:nvPr/>
        </p:nvGrpSpPr>
        <p:grpSpPr>
          <a:xfrm>
            <a:off x="4886800" y="3530000"/>
            <a:ext cx="3800000" cy="560001"/>
            <a:chOff x="0" y="0"/>
            <a:chExt cx="3799999" cy="560000"/>
          </a:xfrm>
        </p:grpSpPr>
        <p:sp>
          <p:nvSpPr>
            <p:cNvPr id="434" name="Rectangle"/>
            <p:cNvSpPr/>
            <p:nvPr/>
          </p:nvSpPr>
          <p:spPr>
            <a:xfrm>
              <a:off x="-1" y="-1"/>
              <a:ext cx="3800001" cy="560002"/>
            </a:xfrm>
            <a:prstGeom prst="rect">
              <a:avLst/>
            </a:prstGeom>
            <a:solidFill>
              <a:srgbClr val="0A1E10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35" name="✓  Improved Shift Continuity"/>
            <p:cNvSpPr txBox="1"/>
            <p:nvPr/>
          </p:nvSpPr>
          <p:spPr>
            <a:xfrm>
              <a:off x="95042" y="136053"/>
              <a:ext cx="3654475" cy="287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02C39A"/>
                  </a:solidFill>
                </a:defRPr>
              </a:pPr>
              <a:r>
                <a:t>✓  </a:t>
              </a:r>
              <a:r>
                <a:rPr>
                  <a:solidFill>
                    <a:srgbClr val="FFFFFF"/>
                  </a:solidFill>
                </a:rPr>
                <a:t>Improved Shift Continuity</a:t>
              </a:r>
            </a:p>
          </p:txBody>
        </p:sp>
      </p:grpSp>
      <p:grpSp>
        <p:nvGrpSpPr>
          <p:cNvPr id="439" name="R5L"/>
          <p:cNvGrpSpPr/>
          <p:nvPr/>
        </p:nvGrpSpPr>
        <p:grpSpPr>
          <a:xfrm>
            <a:off x="457200" y="4140000"/>
            <a:ext cx="3800000" cy="560001"/>
            <a:chOff x="0" y="0"/>
            <a:chExt cx="3799999" cy="560000"/>
          </a:xfrm>
        </p:grpSpPr>
        <p:sp>
          <p:nvSpPr>
            <p:cNvPr id="437" name="Rounded Rectangle"/>
            <p:cNvSpPr/>
            <p:nvPr/>
          </p:nvSpPr>
          <p:spPr>
            <a:xfrm>
              <a:off x="0" y="0"/>
              <a:ext cx="3800000" cy="560001"/>
            </a:xfrm>
            <a:prstGeom prst="roundRect">
              <a:avLst>
                <a:gd name="adj" fmla="val 2000"/>
              </a:avLst>
            </a:prstGeom>
            <a:solidFill>
              <a:srgbClr val="13263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38" name="✕  Human Error Prone"/>
            <p:cNvSpPr txBox="1"/>
            <p:nvPr/>
          </p:nvSpPr>
          <p:spPr>
            <a:xfrm>
              <a:off x="98322" y="152498"/>
              <a:ext cx="3647915" cy="255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EF4444"/>
                  </a:solidFill>
                </a:defRPr>
              </a:pPr>
              <a:r>
                <a:t>✕  </a:t>
              </a:r>
              <a:r>
                <a:rPr>
                  <a:solidFill>
                    <a:srgbClr val="FFFFFF"/>
                  </a:solidFill>
                </a:rPr>
                <a:t>Human Error Prone</a:t>
              </a:r>
            </a:p>
          </p:txBody>
        </p:sp>
      </p:grpSp>
      <p:grpSp>
        <p:nvGrpSpPr>
          <p:cNvPr id="442" name="R5R"/>
          <p:cNvGrpSpPr/>
          <p:nvPr/>
        </p:nvGrpSpPr>
        <p:grpSpPr>
          <a:xfrm>
            <a:off x="4886800" y="4140000"/>
            <a:ext cx="3800000" cy="560001"/>
            <a:chOff x="0" y="0"/>
            <a:chExt cx="3799999" cy="560000"/>
          </a:xfrm>
        </p:grpSpPr>
        <p:sp>
          <p:nvSpPr>
            <p:cNvPr id="440" name="Rounded Rectangle"/>
            <p:cNvSpPr/>
            <p:nvPr/>
          </p:nvSpPr>
          <p:spPr>
            <a:xfrm>
              <a:off x="0" y="0"/>
              <a:ext cx="3800000" cy="560001"/>
            </a:xfrm>
            <a:prstGeom prst="roundRect">
              <a:avLst>
                <a:gd name="adj" fmla="val 2000"/>
              </a:avLst>
            </a:prstGeom>
            <a:solidFill>
              <a:srgbClr val="0D2218"/>
            </a:solidFill>
            <a:ln w="9525" cap="flat">
              <a:solidFill>
                <a:srgbClr val="1E3A5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sp>
          <p:nvSpPr>
            <p:cNvPr id="441" name="✓  AI-Verified Accuracy"/>
            <p:cNvSpPr txBox="1"/>
            <p:nvPr/>
          </p:nvSpPr>
          <p:spPr>
            <a:xfrm>
              <a:off x="98322" y="136053"/>
              <a:ext cx="3647915" cy="287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200">
                  <a:solidFill>
                    <a:srgbClr val="02C39A"/>
                  </a:solidFill>
                </a:defRPr>
              </a:pPr>
              <a:r>
                <a:t>✓  </a:t>
              </a:r>
              <a:r>
                <a:rPr>
                  <a:solidFill>
                    <a:srgbClr val="FFFFFF"/>
                  </a:solidFill>
                </a:rPr>
                <a:t>AI-Verified Accuracy</a:t>
              </a:r>
            </a:p>
          </p:txBody>
        </p:sp>
      </p:grpSp>
      <p:grpSp>
        <p:nvGrpSpPr>
          <p:cNvPr id="445" name="VS"/>
          <p:cNvGrpSpPr/>
          <p:nvPr/>
        </p:nvGrpSpPr>
        <p:grpSpPr>
          <a:xfrm>
            <a:off x="4357199" y="2699999"/>
            <a:ext cx="430001" cy="430001"/>
            <a:chOff x="0" y="0"/>
            <a:chExt cx="430000" cy="430000"/>
          </a:xfrm>
        </p:grpSpPr>
        <p:sp>
          <p:nvSpPr>
            <p:cNvPr id="443" name="Circle"/>
            <p:cNvSpPr/>
            <p:nvPr/>
          </p:nvSpPr>
          <p:spPr>
            <a:xfrm>
              <a:off x="-1" y="-1"/>
              <a:ext cx="430002" cy="430002"/>
            </a:xfrm>
            <a:prstGeom prst="ellipse">
              <a:avLst/>
            </a:prstGeom>
            <a:solidFill>
              <a:srgbClr val="0EA5C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44" name="VS"/>
            <p:cNvSpPr txBox="1"/>
            <p:nvPr/>
          </p:nvSpPr>
          <p:spPr>
            <a:xfrm>
              <a:off x="62971" y="102147"/>
              <a:ext cx="304058" cy="225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</a:defRPr>
              </a:lvl1pPr>
            </a:lstStyle>
            <a:p>
              <a:pPr/>
              <a:r>
                <a:t>VS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" name="Text 1"/>
          <p:cNvSpPr txBox="1"/>
          <p:nvPr/>
        </p:nvSpPr>
        <p:spPr>
          <a:xfrm>
            <a:off x="502919" y="205741"/>
            <a:ext cx="8138160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Future Enhancements</a:t>
            </a:r>
          </a:p>
        </p:txBody>
      </p:sp>
      <p:sp>
        <p:nvSpPr>
          <p:cNvPr id="449" name="Text 2"/>
          <p:cNvSpPr txBox="1"/>
          <p:nvPr/>
        </p:nvSpPr>
        <p:spPr>
          <a:xfrm>
            <a:off x="502919" y="912563"/>
            <a:ext cx="813816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500">
                <a:solidFill>
                  <a:srgbClr val="0EA5C8"/>
                </a:solidFill>
              </a:defRPr>
            </a:lvl1pPr>
          </a:lstStyle>
          <a:p>
            <a:pPr/>
            <a:r>
              <a:t>The roadmap beyond this prototype</a:t>
            </a:r>
          </a:p>
        </p:txBody>
      </p:sp>
      <p:sp>
        <p:nvSpPr>
          <p:cNvPr id="450" name="Shape 3"/>
          <p:cNvSpPr/>
          <p:nvPr/>
        </p:nvSpPr>
        <p:spPr>
          <a:xfrm>
            <a:off x="411480" y="1371600"/>
            <a:ext cx="2651762" cy="1417320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319" y="1490472"/>
            <a:ext cx="640081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 4"/>
          <p:cNvSpPr txBox="1"/>
          <p:nvPr/>
        </p:nvSpPr>
        <p:spPr>
          <a:xfrm>
            <a:off x="457200" y="2275772"/>
            <a:ext cx="25603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Jira Integration</a:t>
            </a:r>
          </a:p>
        </p:txBody>
      </p:sp>
      <p:sp>
        <p:nvSpPr>
          <p:cNvPr id="453" name="Text 5"/>
          <p:cNvSpPr txBox="1"/>
          <p:nvPr/>
        </p:nvSpPr>
        <p:spPr>
          <a:xfrm>
            <a:off x="548639" y="2520619"/>
            <a:ext cx="237744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Auto-sync incidents from Jira tickets</a:t>
            </a:r>
          </a:p>
        </p:txBody>
      </p:sp>
      <p:sp>
        <p:nvSpPr>
          <p:cNvPr id="454" name="Shape 6"/>
          <p:cNvSpPr/>
          <p:nvPr/>
        </p:nvSpPr>
        <p:spPr>
          <a:xfrm>
            <a:off x="3291840" y="1371600"/>
            <a:ext cx="2651762" cy="1417320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97679" y="1490472"/>
            <a:ext cx="640082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Text 7"/>
          <p:cNvSpPr txBox="1"/>
          <p:nvPr/>
        </p:nvSpPr>
        <p:spPr>
          <a:xfrm>
            <a:off x="3337559" y="2275772"/>
            <a:ext cx="256032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ServiceNow Integration</a:t>
            </a:r>
          </a:p>
        </p:txBody>
      </p:sp>
      <p:sp>
        <p:nvSpPr>
          <p:cNvPr id="457" name="Text 8"/>
          <p:cNvSpPr txBox="1"/>
          <p:nvPr/>
        </p:nvSpPr>
        <p:spPr>
          <a:xfrm>
            <a:off x="3429000" y="2520619"/>
            <a:ext cx="237744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Connect to enterprise ITSM workflows</a:t>
            </a:r>
          </a:p>
        </p:txBody>
      </p:sp>
      <p:sp>
        <p:nvSpPr>
          <p:cNvPr id="458" name="Shape 9"/>
          <p:cNvSpPr/>
          <p:nvPr/>
        </p:nvSpPr>
        <p:spPr>
          <a:xfrm>
            <a:off x="6172200" y="1371600"/>
            <a:ext cx="2651762" cy="1417320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78040" y="1490472"/>
            <a:ext cx="640082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10"/>
          <p:cNvSpPr txBox="1"/>
          <p:nvPr/>
        </p:nvSpPr>
        <p:spPr>
          <a:xfrm>
            <a:off x="6217919" y="2196486"/>
            <a:ext cx="2560323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Real-Time Monitoring</a:t>
            </a:r>
          </a:p>
        </p:txBody>
      </p:sp>
      <p:sp>
        <p:nvSpPr>
          <p:cNvPr id="461" name="Text 11"/>
          <p:cNvSpPr txBox="1"/>
          <p:nvPr/>
        </p:nvSpPr>
        <p:spPr>
          <a:xfrm>
            <a:off x="6309359" y="2438069"/>
            <a:ext cx="2377442" cy="39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Live dashboard with streaming incident feeds</a:t>
            </a:r>
          </a:p>
        </p:txBody>
      </p:sp>
      <p:sp>
        <p:nvSpPr>
          <p:cNvPr id="462" name="Shape 12"/>
          <p:cNvSpPr/>
          <p:nvPr/>
        </p:nvSpPr>
        <p:spPr>
          <a:xfrm>
            <a:off x="411480" y="3017520"/>
            <a:ext cx="2651762" cy="1417322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2DC8E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7319" y="3136392"/>
            <a:ext cx="640081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 13"/>
          <p:cNvSpPr txBox="1"/>
          <p:nvPr/>
        </p:nvSpPr>
        <p:spPr>
          <a:xfrm>
            <a:off x="457200" y="3800807"/>
            <a:ext cx="2560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Email Automation</a:t>
            </a:r>
          </a:p>
        </p:txBody>
      </p:sp>
      <p:sp>
        <p:nvSpPr>
          <p:cNvPr id="465" name="Text 14"/>
          <p:cNvSpPr txBox="1"/>
          <p:nvPr/>
        </p:nvSpPr>
        <p:spPr>
          <a:xfrm>
            <a:off x="548639" y="4050791"/>
            <a:ext cx="2377443" cy="39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Automatically distribute reports to stakeholders</a:t>
            </a:r>
          </a:p>
        </p:txBody>
      </p:sp>
      <p:sp>
        <p:nvSpPr>
          <p:cNvPr id="466" name="Shape 15"/>
          <p:cNvSpPr/>
          <p:nvPr/>
        </p:nvSpPr>
        <p:spPr>
          <a:xfrm>
            <a:off x="3291840" y="3017520"/>
            <a:ext cx="2651762" cy="1417322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02C39A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97679" y="3136392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Text 16"/>
          <p:cNvSpPr txBox="1"/>
          <p:nvPr/>
        </p:nvSpPr>
        <p:spPr>
          <a:xfrm>
            <a:off x="3337559" y="3921691"/>
            <a:ext cx="256032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AI Chatbot</a:t>
            </a:r>
          </a:p>
        </p:txBody>
      </p:sp>
      <p:sp>
        <p:nvSpPr>
          <p:cNvPr id="469" name="Text 17"/>
          <p:cNvSpPr txBox="1"/>
          <p:nvPr/>
        </p:nvSpPr>
        <p:spPr>
          <a:xfrm>
            <a:off x="3429000" y="4166539"/>
            <a:ext cx="237744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Query shift history in natural language</a:t>
            </a:r>
          </a:p>
        </p:txBody>
      </p:sp>
      <p:sp>
        <p:nvSpPr>
          <p:cNvPr id="470" name="Shape 18"/>
          <p:cNvSpPr/>
          <p:nvPr/>
        </p:nvSpPr>
        <p:spPr>
          <a:xfrm>
            <a:off x="6172200" y="3017520"/>
            <a:ext cx="2651762" cy="1417322"/>
          </a:xfrm>
          <a:prstGeom prst="roundRect">
            <a:avLst>
              <a:gd name="adj" fmla="val 6452"/>
            </a:avLst>
          </a:prstGeom>
          <a:solidFill>
            <a:srgbClr val="132638"/>
          </a:solidFill>
          <a:ln w="19050">
            <a:solidFill>
              <a:srgbClr val="0EA5C8"/>
            </a:solidFill>
          </a:ln>
          <a:effectLst>
            <a:outerShdw sx="100000" sy="100000" kx="0" ky="0" algn="b" rotWithShape="0" blurRad="101600" dist="38100" dir="2700000">
              <a:srgbClr val="000000">
                <a:alpha val="2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71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178040" y="3136392"/>
            <a:ext cx="640082" cy="640082"/>
          </a:xfrm>
          <a:prstGeom prst="rect">
            <a:avLst/>
          </a:prstGeom>
          <a:ln w="12700">
            <a:miter lim="400000"/>
          </a:ln>
        </p:spPr>
      </p:pic>
      <p:sp>
        <p:nvSpPr>
          <p:cNvPr id="472" name="Text 19"/>
          <p:cNvSpPr txBox="1"/>
          <p:nvPr/>
        </p:nvSpPr>
        <p:spPr>
          <a:xfrm>
            <a:off x="6217919" y="3800807"/>
            <a:ext cx="2560323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Historical Analytics</a:t>
            </a:r>
          </a:p>
        </p:txBody>
      </p:sp>
      <p:sp>
        <p:nvSpPr>
          <p:cNvPr id="473" name="Text 20"/>
          <p:cNvSpPr txBox="1"/>
          <p:nvPr/>
        </p:nvSpPr>
        <p:spPr>
          <a:xfrm>
            <a:off x="6309359" y="4076387"/>
            <a:ext cx="2377442" cy="39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Trend analysis across weeks and quarters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3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Shape 1"/>
          <p:cNvSpPr/>
          <p:nvPr/>
        </p:nvSpPr>
        <p:spPr>
          <a:xfrm>
            <a:off x="0" y="5093208"/>
            <a:ext cx="9144000" cy="5486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86200" y="228600"/>
            <a:ext cx="1371600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Text 2"/>
          <p:cNvSpPr txBox="1"/>
          <p:nvPr/>
        </p:nvSpPr>
        <p:spPr>
          <a:xfrm>
            <a:off x="502919" y="1799591"/>
            <a:ext cx="8138160" cy="56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AI-Powered Shift Continuity Platform</a:t>
            </a:r>
          </a:p>
        </p:txBody>
      </p:sp>
      <p:sp>
        <p:nvSpPr>
          <p:cNvPr id="479" name="Text 3"/>
          <p:cNvSpPr txBox="1"/>
          <p:nvPr/>
        </p:nvSpPr>
        <p:spPr>
          <a:xfrm>
            <a:off x="960119" y="2661482"/>
            <a:ext cx="72237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1600">
                <a:solidFill>
                  <a:srgbClr val="0EA5C8"/>
                </a:solidFill>
              </a:defRPr>
            </a:lvl1pPr>
          </a:lstStyle>
          <a:p>
            <a:pPr/>
            <a:r>
              <a:t>Transforming Manual Shift Handovers Into Intelligent Automated Workflows</a:t>
            </a:r>
          </a:p>
        </p:txBody>
      </p:sp>
      <p:sp>
        <p:nvSpPr>
          <p:cNvPr id="480" name="Shape 4"/>
          <p:cNvSpPr/>
          <p:nvPr/>
        </p:nvSpPr>
        <p:spPr>
          <a:xfrm>
            <a:off x="2743200" y="3154678"/>
            <a:ext cx="3657600" cy="36578"/>
          </a:xfrm>
          <a:prstGeom prst="rect">
            <a:avLst/>
          </a:prstGeom>
          <a:solidFill>
            <a:srgbClr val="0EA5C8"/>
          </a:solidFill>
          <a:ln w="12700">
            <a:solidFill>
              <a:srgbClr val="0EA5C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Text 5"/>
          <p:cNvSpPr txBox="1"/>
          <p:nvPr/>
        </p:nvSpPr>
        <p:spPr>
          <a:xfrm>
            <a:off x="960119" y="3341370"/>
            <a:ext cx="722376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>
                <a:solidFill>
                  <a:srgbClr val="2DC8E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Team Zenova</a:t>
            </a:r>
          </a:p>
        </p:txBody>
      </p:sp>
      <p:sp>
        <p:nvSpPr>
          <p:cNvPr id="482" name="Text 6"/>
          <p:cNvSpPr txBox="1"/>
          <p:nvPr/>
        </p:nvSpPr>
        <p:spPr>
          <a:xfrm>
            <a:off x="960119" y="3839394"/>
            <a:ext cx="722376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300">
                <a:solidFill>
                  <a:srgbClr val="94A3B8"/>
                </a:solidFill>
              </a:defRPr>
            </a:lvl1pPr>
          </a:lstStyle>
          <a:p>
            <a:pPr/>
            <a:r>
              <a:t>Monicka R   •   Veeramani (Vignesh)   •   Jeffrey Nathaniel S</a:t>
            </a:r>
          </a:p>
        </p:txBody>
      </p:sp>
      <p:sp>
        <p:nvSpPr>
          <p:cNvPr id="483" name="Text 7"/>
          <p:cNvSpPr txBox="1"/>
          <p:nvPr/>
        </p:nvSpPr>
        <p:spPr>
          <a:xfrm>
            <a:off x="960119" y="4315460"/>
            <a:ext cx="722376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22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  •  Q &amp;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